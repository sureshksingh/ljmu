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8" r:id="rId3"/>
    <p:sldId id="257" r:id="rId4"/>
    <p:sldId id="259" r:id="rId5"/>
    <p:sldId id="260" r:id="rId6"/>
    <p:sldId id="270" r:id="rId7"/>
    <p:sldId id="261" r:id="rId8"/>
    <p:sldId id="271" r:id="rId9"/>
    <p:sldId id="264" r:id="rId10"/>
    <p:sldId id="262" r:id="rId11"/>
    <p:sldId id="263"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D:\Data%20Science\MS%20LJMU\Research%20Interim%20&amp;%20Final%20Report\Final%20FineTuning%20Observa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Data%20Science\MS%20LJMU\Research%20Interim%20&amp;%20Final%20Report\Final%20FineTuning%20Observation.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Data%20Science\MS%20LJMU\Research%20Interim%20&amp;%20Final%20Report\Final%20FineTuning%20Observation.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Data%20Science\MS%20LJMU\Research%20Interim%20&amp;%20Final%20Report\Final%20FineTuning%20Observation.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Data%20Science\MS%20LJMU\Research%20Interim%20&amp;%20Final%20Report\Final%20FineTuning%20Observation.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effectLst/>
              </a:rPr>
              <a:t>Llama-2-7b Q B - 4</a:t>
            </a:r>
            <a:r>
              <a:rPr lang="en-IN" sz="1400" b="0" i="0" u="none" strike="noStrike" baseline="0" dirty="0"/>
              <a:t> </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Sheet1!$G$2</c:f>
              <c:strCache>
                <c:ptCount val="1"/>
                <c:pt idx="0">
                  <c:v>Rank</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Sheet1!$G$3:$G$7</c:f>
              <c:numCache>
                <c:formatCode>General</c:formatCode>
                <c:ptCount val="5"/>
                <c:pt idx="0">
                  <c:v>8</c:v>
                </c:pt>
                <c:pt idx="1">
                  <c:v>16</c:v>
                </c:pt>
                <c:pt idx="2">
                  <c:v>32</c:v>
                </c:pt>
                <c:pt idx="3">
                  <c:v>64</c:v>
                </c:pt>
                <c:pt idx="4">
                  <c:v>128</c:v>
                </c:pt>
              </c:numCache>
            </c:numRef>
          </c:val>
          <c:extLst>
            <c:ext xmlns:c16="http://schemas.microsoft.com/office/drawing/2014/chart" uri="{C3380CC4-5D6E-409C-BE32-E72D297353CC}">
              <c16:uniqueId val="{00000000-7258-4BE2-9610-3F74209662E0}"/>
            </c:ext>
          </c:extLst>
        </c:ser>
        <c:ser>
          <c:idx val="1"/>
          <c:order val="1"/>
          <c:tx>
            <c:strRef>
              <c:f>Sheet1!$H$2</c:f>
              <c:strCache>
                <c:ptCount val="1"/>
                <c:pt idx="0">
                  <c:v>Alpha</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Sheet1!$H$3:$H$7</c:f>
              <c:numCache>
                <c:formatCode>General</c:formatCode>
                <c:ptCount val="5"/>
                <c:pt idx="0">
                  <c:v>8</c:v>
                </c:pt>
                <c:pt idx="1">
                  <c:v>16</c:v>
                </c:pt>
                <c:pt idx="2">
                  <c:v>32</c:v>
                </c:pt>
                <c:pt idx="3">
                  <c:v>64</c:v>
                </c:pt>
                <c:pt idx="4">
                  <c:v>128</c:v>
                </c:pt>
              </c:numCache>
            </c:numRef>
          </c:val>
          <c:extLst>
            <c:ext xmlns:c16="http://schemas.microsoft.com/office/drawing/2014/chart" uri="{C3380CC4-5D6E-409C-BE32-E72D297353CC}">
              <c16:uniqueId val="{00000001-7258-4BE2-9610-3F74209662E0}"/>
            </c:ext>
          </c:extLst>
        </c:ser>
        <c:dLbls>
          <c:showLegendKey val="0"/>
          <c:showVal val="0"/>
          <c:showCatName val="0"/>
          <c:showSerName val="0"/>
          <c:showPercent val="0"/>
          <c:showBubbleSize val="0"/>
        </c:dLbls>
        <c:gapWidth val="150"/>
        <c:axId val="91736400"/>
        <c:axId val="91738800"/>
      </c:barChart>
      <c:lineChart>
        <c:grouping val="standard"/>
        <c:varyColors val="0"/>
        <c:ser>
          <c:idx val="2"/>
          <c:order val="2"/>
          <c:tx>
            <c:strRef>
              <c:f>Sheet1!$I$2</c:f>
              <c:strCache>
                <c:ptCount val="1"/>
                <c:pt idx="0">
                  <c:v>Training Loss</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Sheet1!$I$3:$I$7</c:f>
              <c:numCache>
                <c:formatCode>0.0000</c:formatCode>
                <c:ptCount val="5"/>
                <c:pt idx="0">
                  <c:v>1.9782999999999999</c:v>
                </c:pt>
                <c:pt idx="1">
                  <c:v>1.7401</c:v>
                </c:pt>
                <c:pt idx="2">
                  <c:v>1.9037999999999999</c:v>
                </c:pt>
                <c:pt idx="3">
                  <c:v>1.5989</c:v>
                </c:pt>
                <c:pt idx="4">
                  <c:v>0.83189999999999997</c:v>
                </c:pt>
              </c:numCache>
            </c:numRef>
          </c:val>
          <c:smooth val="0"/>
          <c:extLst>
            <c:ext xmlns:c16="http://schemas.microsoft.com/office/drawing/2014/chart" uri="{C3380CC4-5D6E-409C-BE32-E72D297353CC}">
              <c16:uniqueId val="{00000002-7258-4BE2-9610-3F74209662E0}"/>
            </c:ext>
          </c:extLst>
        </c:ser>
        <c:ser>
          <c:idx val="3"/>
          <c:order val="3"/>
          <c:tx>
            <c:strRef>
              <c:f>Sheet1!$J$2</c:f>
              <c:strCache>
                <c:ptCount val="1"/>
                <c:pt idx="0">
                  <c:v>Validation Loss</c:v>
                </c:pt>
              </c:strCache>
            </c:strRef>
          </c:tx>
          <c:spPr>
            <a:ln w="28575" cap="rnd">
              <a:solidFill>
                <a:schemeClr val="accent4"/>
              </a:solidFill>
              <a:round/>
            </a:ln>
            <a:effectLst/>
          </c:spPr>
          <c:marker>
            <c:symbol val="none"/>
          </c:marker>
          <c:dLbls>
            <c:dLbl>
              <c:idx val="4"/>
              <c:spPr>
                <a:noFill/>
                <a:ln>
                  <a:noFill/>
                </a:ln>
                <a:effectLst/>
              </c:spPr>
              <c:txPr>
                <a:bodyPr rot="0" spcFirstLastPara="1" vertOverflow="ellipsis" vert="horz" wrap="square" lIns="38100" tIns="19050" rIns="38100" bIns="19050" anchor="ctr" anchorCtr="1">
                  <a:no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7416666666666665E-2"/>
                      <c:h val="0.16196777486147565"/>
                    </c:manualLayout>
                  </c15:layout>
                </c:ext>
                <c:ext xmlns:c16="http://schemas.microsoft.com/office/drawing/2014/chart" uri="{C3380CC4-5D6E-409C-BE32-E72D297353CC}">
                  <c16:uniqueId val="{00000003-7258-4BE2-9610-3F74209662E0}"/>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Sheet1!$J$3:$J$7</c:f>
              <c:numCache>
                <c:formatCode>0.0000</c:formatCode>
                <c:ptCount val="5"/>
                <c:pt idx="0">
                  <c:v>1.803633</c:v>
                </c:pt>
                <c:pt idx="1">
                  <c:v>1.611804</c:v>
                </c:pt>
                <c:pt idx="2">
                  <c:v>1.5968800000000001</c:v>
                </c:pt>
                <c:pt idx="3">
                  <c:v>1.3353299999999999</c:v>
                </c:pt>
                <c:pt idx="4">
                  <c:v>0.90045500000000001</c:v>
                </c:pt>
              </c:numCache>
            </c:numRef>
          </c:val>
          <c:smooth val="0"/>
          <c:extLst>
            <c:ext xmlns:c16="http://schemas.microsoft.com/office/drawing/2014/chart" uri="{C3380CC4-5D6E-409C-BE32-E72D297353CC}">
              <c16:uniqueId val="{00000004-7258-4BE2-9610-3F74209662E0}"/>
            </c:ext>
          </c:extLst>
        </c:ser>
        <c:dLbls>
          <c:showLegendKey val="0"/>
          <c:showVal val="0"/>
          <c:showCatName val="0"/>
          <c:showSerName val="0"/>
          <c:showPercent val="0"/>
          <c:showBubbleSize val="0"/>
        </c:dLbls>
        <c:marker val="1"/>
        <c:smooth val="0"/>
        <c:axId val="2121903968"/>
        <c:axId val="2121904448"/>
      </c:lineChart>
      <c:catAx>
        <c:axId val="91736400"/>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738800"/>
        <c:crosses val="autoZero"/>
        <c:auto val="1"/>
        <c:lblAlgn val="ctr"/>
        <c:lblOffset val="100"/>
        <c:noMultiLvlLbl val="0"/>
      </c:catAx>
      <c:valAx>
        <c:axId val="9173880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1736400"/>
        <c:crosses val="autoZero"/>
        <c:crossBetween val="between"/>
      </c:valAx>
      <c:valAx>
        <c:axId val="2121904448"/>
        <c:scaling>
          <c:orientation val="minMax"/>
        </c:scaling>
        <c:delete val="0"/>
        <c:axPos val="r"/>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1903968"/>
        <c:crosses val="max"/>
        <c:crossBetween val="between"/>
      </c:valAx>
      <c:catAx>
        <c:axId val="2121903968"/>
        <c:scaling>
          <c:orientation val="minMax"/>
        </c:scaling>
        <c:delete val="1"/>
        <c:axPos val="b"/>
        <c:majorTickMark val="none"/>
        <c:minorTickMark val="none"/>
        <c:tickLblPos val="nextTo"/>
        <c:crossAx val="2121904448"/>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effectLst/>
              </a:rPr>
              <a:t>Llama-2-7b QB - 8</a:t>
            </a:r>
            <a:endParaRPr lang="en-IN" dirty="0"/>
          </a:p>
        </c:rich>
      </c:tx>
      <c:layout>
        <c:manualLayout>
          <c:xMode val="edge"/>
          <c:yMode val="edge"/>
          <c:x val="0.33623917696760502"/>
          <c:y val="2.1023009435523921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val>
            <c:numRef>
              <c:f>Sheet1!$G$8:$G$13</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0-3CFD-4027-A1E3-F5E82FFC6064}"/>
            </c:ext>
          </c:extLst>
        </c:ser>
        <c:ser>
          <c:idx val="1"/>
          <c:order val="1"/>
          <c:spPr>
            <a:solidFill>
              <a:schemeClr val="accent2"/>
            </a:solidFill>
            <a:ln>
              <a:noFill/>
            </a:ln>
            <a:effectLst/>
          </c:spPr>
          <c:invertIfNegative val="0"/>
          <c:val>
            <c:numRef>
              <c:f>Sheet1!$H$8:$H$13</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1-3CFD-4027-A1E3-F5E82FFC6064}"/>
            </c:ext>
          </c:extLst>
        </c:ser>
        <c:dLbls>
          <c:showLegendKey val="0"/>
          <c:showVal val="0"/>
          <c:showCatName val="0"/>
          <c:showSerName val="0"/>
          <c:showPercent val="0"/>
          <c:showBubbleSize val="0"/>
        </c:dLbls>
        <c:gapWidth val="150"/>
        <c:axId val="103996416"/>
        <c:axId val="103996896"/>
      </c:barChart>
      <c:lineChart>
        <c:grouping val="standard"/>
        <c:varyColors val="0"/>
        <c:ser>
          <c:idx val="2"/>
          <c:order val="2"/>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Sheet1!$I$8:$I$13</c:f>
              <c:numCache>
                <c:formatCode>0.0000</c:formatCode>
                <c:ptCount val="6"/>
                <c:pt idx="0">
                  <c:v>2.1126999999999998</c:v>
                </c:pt>
                <c:pt idx="1">
                  <c:v>1.3271999999999999</c:v>
                </c:pt>
                <c:pt idx="2">
                  <c:v>1.0170999999999999</c:v>
                </c:pt>
                <c:pt idx="3">
                  <c:v>0.90080000000000005</c:v>
                </c:pt>
                <c:pt idx="4">
                  <c:v>0.79879999999999995</c:v>
                </c:pt>
                <c:pt idx="5">
                  <c:v>0.72219999999999995</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2-3CFD-4027-A1E3-F5E82FFC6064}"/>
            </c:ext>
          </c:extLst>
        </c:ser>
        <c:ser>
          <c:idx val="3"/>
          <c:order val="3"/>
          <c:spPr>
            <a:ln w="28575" cap="rnd">
              <a:solidFill>
                <a:schemeClr val="accent4"/>
              </a:solidFill>
              <a:round/>
            </a:ln>
            <a:effectLst/>
          </c:spPr>
          <c:marker>
            <c:symbol val="none"/>
          </c:marker>
          <c:val>
            <c:numRef>
              <c:f>Sheet1!$J$8:$J$13</c:f>
              <c:numCache>
                <c:formatCode>0.0000</c:formatCode>
                <c:ptCount val="6"/>
                <c:pt idx="0">
                  <c:v>1.913314</c:v>
                </c:pt>
                <c:pt idx="1">
                  <c:v>1.2961069999999999</c:v>
                </c:pt>
                <c:pt idx="2">
                  <c:v>1.059404</c:v>
                </c:pt>
                <c:pt idx="3">
                  <c:v>0.95513000000000003</c:v>
                </c:pt>
                <c:pt idx="4">
                  <c:v>0.86003099999999999</c:v>
                </c:pt>
                <c:pt idx="5">
                  <c:v>0.77486100000000002</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3-3CFD-4027-A1E3-F5E82FFC6064}"/>
            </c:ext>
          </c:extLst>
        </c:ser>
        <c:dLbls>
          <c:showLegendKey val="0"/>
          <c:showVal val="0"/>
          <c:showCatName val="0"/>
          <c:showSerName val="0"/>
          <c:showPercent val="0"/>
          <c:showBubbleSize val="0"/>
        </c:dLbls>
        <c:marker val="1"/>
        <c:smooth val="0"/>
        <c:axId val="145340272"/>
        <c:axId val="145343632"/>
      </c:lineChart>
      <c:catAx>
        <c:axId val="103996416"/>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996896"/>
        <c:crosses val="autoZero"/>
        <c:auto val="1"/>
        <c:lblAlgn val="ctr"/>
        <c:lblOffset val="100"/>
        <c:noMultiLvlLbl val="0"/>
      </c:catAx>
      <c:valAx>
        <c:axId val="1039968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3996416"/>
        <c:crosses val="autoZero"/>
        <c:crossBetween val="between"/>
      </c:valAx>
      <c:valAx>
        <c:axId val="145343632"/>
        <c:scaling>
          <c:orientation val="minMax"/>
        </c:scaling>
        <c:delete val="0"/>
        <c:axPos val="r"/>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5340272"/>
        <c:crosses val="max"/>
        <c:crossBetween val="between"/>
      </c:valAx>
      <c:catAx>
        <c:axId val="145340272"/>
        <c:scaling>
          <c:orientation val="minMax"/>
        </c:scaling>
        <c:delete val="1"/>
        <c:axPos val="b"/>
        <c:majorTickMark val="none"/>
        <c:minorTickMark val="none"/>
        <c:tickLblPos val="nextTo"/>
        <c:crossAx val="14534363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effectLst/>
              </a:rPr>
              <a:t>Llama-3-8B QB - 4</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Sheet1!$G$14:$G$19</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0-647D-49F6-A2BC-257123FC04C1}"/>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Sheet1!$H$14:$H$19</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1-647D-49F6-A2BC-257123FC04C1}"/>
            </c:ext>
          </c:extLst>
        </c:ser>
        <c:dLbls>
          <c:showLegendKey val="0"/>
          <c:showVal val="0"/>
          <c:showCatName val="0"/>
          <c:showSerName val="0"/>
          <c:showPercent val="0"/>
          <c:showBubbleSize val="0"/>
        </c:dLbls>
        <c:gapWidth val="150"/>
        <c:axId val="2121904928"/>
        <c:axId val="2121905888"/>
      </c:barChart>
      <c:lineChart>
        <c:grouping val="standard"/>
        <c:varyColors val="0"/>
        <c:ser>
          <c:idx val="2"/>
          <c:order val="2"/>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Sheet1!$I$14:$I$19</c:f>
              <c:numCache>
                <c:formatCode>0.0000</c:formatCode>
                <c:ptCount val="6"/>
                <c:pt idx="0">
                  <c:v>1.6325000000000001</c:v>
                </c:pt>
                <c:pt idx="1">
                  <c:v>1.2461</c:v>
                </c:pt>
                <c:pt idx="2">
                  <c:v>1.0660000000000001</c:v>
                </c:pt>
                <c:pt idx="3">
                  <c:v>0.90620000000000001</c:v>
                </c:pt>
                <c:pt idx="4">
                  <c:v>0.8266</c:v>
                </c:pt>
                <c:pt idx="5">
                  <c:v>0.74890000000000001</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2-647D-49F6-A2BC-257123FC04C1}"/>
            </c:ext>
          </c:extLst>
        </c:ser>
        <c:ser>
          <c:idx val="3"/>
          <c:order val="3"/>
          <c:spPr>
            <a:ln w="28575" cap="rnd">
              <a:solidFill>
                <a:schemeClr val="accent4"/>
              </a:solidFill>
              <a:round/>
            </a:ln>
            <a:effectLst/>
          </c:spPr>
          <c:marker>
            <c:symbol val="none"/>
          </c:marker>
          <c:val>
            <c:numRef>
              <c:f>Sheet1!$J$14:$J$19</c:f>
              <c:numCache>
                <c:formatCode>0.0000</c:formatCode>
                <c:ptCount val="6"/>
                <c:pt idx="0">
                  <c:v>1.507836</c:v>
                </c:pt>
                <c:pt idx="1">
                  <c:v>1.2366410000000001</c:v>
                </c:pt>
                <c:pt idx="2">
                  <c:v>1.0942259999999999</c:v>
                </c:pt>
                <c:pt idx="3">
                  <c:v>0.96904999999999997</c:v>
                </c:pt>
                <c:pt idx="4">
                  <c:v>0.882988</c:v>
                </c:pt>
                <c:pt idx="5">
                  <c:v>0.77924700000000002</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3-647D-49F6-A2BC-257123FC04C1}"/>
            </c:ext>
          </c:extLst>
        </c:ser>
        <c:dLbls>
          <c:showLegendKey val="0"/>
          <c:showVal val="0"/>
          <c:showCatName val="0"/>
          <c:showSerName val="0"/>
          <c:showPercent val="0"/>
          <c:showBubbleSize val="0"/>
        </c:dLbls>
        <c:marker val="1"/>
        <c:smooth val="0"/>
        <c:axId val="142082016"/>
        <c:axId val="142084896"/>
      </c:lineChart>
      <c:catAx>
        <c:axId val="2121904928"/>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1905888"/>
        <c:crosses val="autoZero"/>
        <c:auto val="1"/>
        <c:lblAlgn val="ctr"/>
        <c:lblOffset val="100"/>
        <c:noMultiLvlLbl val="0"/>
      </c:catAx>
      <c:valAx>
        <c:axId val="21219058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121904928"/>
        <c:crosses val="autoZero"/>
        <c:crossBetween val="between"/>
      </c:valAx>
      <c:valAx>
        <c:axId val="142084896"/>
        <c:scaling>
          <c:orientation val="minMax"/>
        </c:scaling>
        <c:delete val="0"/>
        <c:axPos val="r"/>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42082016"/>
        <c:crosses val="max"/>
        <c:crossBetween val="between"/>
      </c:valAx>
      <c:catAx>
        <c:axId val="142082016"/>
        <c:scaling>
          <c:orientation val="minMax"/>
        </c:scaling>
        <c:delete val="1"/>
        <c:axPos val="b"/>
        <c:majorTickMark val="none"/>
        <c:minorTickMark val="none"/>
        <c:tickLblPos val="nextTo"/>
        <c:crossAx val="142084896"/>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400" b="0" i="0" u="none" strike="noStrike" baseline="0" dirty="0">
                <a:effectLst/>
              </a:rPr>
              <a:t>Mistral-7B QB - 4</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Sheet1!$G$20:$G$25</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0-7C1C-4F2A-987D-58732754AB0E}"/>
            </c:ext>
          </c:extLst>
        </c:ser>
        <c:ser>
          <c:idx val="1"/>
          <c:order val="1"/>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Sheet1!$H$20:$H$25</c:f>
              <c:numCache>
                <c:formatCode>General</c:formatCode>
                <c:ptCount val="6"/>
                <c:pt idx="0">
                  <c:v>4</c:v>
                </c:pt>
                <c:pt idx="1">
                  <c:v>8</c:v>
                </c:pt>
                <c:pt idx="2">
                  <c:v>16</c:v>
                </c:pt>
                <c:pt idx="3">
                  <c:v>32</c:v>
                </c:pt>
                <c:pt idx="4">
                  <c:v>64</c:v>
                </c:pt>
                <c:pt idx="5">
                  <c:v>128</c:v>
                </c:pt>
              </c:numCache>
            </c:numRef>
          </c:val>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1-7C1C-4F2A-987D-58732754AB0E}"/>
            </c:ext>
          </c:extLst>
        </c:ser>
        <c:dLbls>
          <c:showLegendKey val="0"/>
          <c:showVal val="0"/>
          <c:showCatName val="0"/>
          <c:showSerName val="0"/>
          <c:showPercent val="0"/>
          <c:showBubbleSize val="0"/>
        </c:dLbls>
        <c:gapWidth val="150"/>
        <c:axId val="101389872"/>
        <c:axId val="101389392"/>
      </c:barChart>
      <c:lineChart>
        <c:grouping val="standard"/>
        <c:varyColors val="0"/>
        <c:ser>
          <c:idx val="2"/>
          <c:order val="2"/>
          <c:spPr>
            <a:ln w="28575" cap="rnd">
              <a:solidFill>
                <a:schemeClr val="accent3"/>
              </a:solidFill>
              <a:round/>
            </a:ln>
            <a:effectLst/>
          </c:spPr>
          <c:marker>
            <c:symbol val="none"/>
          </c:marker>
          <c:val>
            <c:numRef>
              <c:f>Sheet1!$I$20:$I$25</c:f>
              <c:numCache>
                <c:formatCode>0.0000</c:formatCode>
                <c:ptCount val="6"/>
                <c:pt idx="0">
                  <c:v>0.92090000000000005</c:v>
                </c:pt>
                <c:pt idx="1">
                  <c:v>0.78600000000000003</c:v>
                </c:pt>
                <c:pt idx="2">
                  <c:v>0.71209999999999996</c:v>
                </c:pt>
                <c:pt idx="3">
                  <c:v>0.64780000000000004</c:v>
                </c:pt>
                <c:pt idx="4">
                  <c:v>0.57789999999999997</c:v>
                </c:pt>
                <c:pt idx="5">
                  <c:v>0.50380000000000003</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2-7C1C-4F2A-987D-58732754AB0E}"/>
            </c:ext>
          </c:extLst>
        </c:ser>
        <c:ser>
          <c:idx val="3"/>
          <c:order val="3"/>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Sheet1!$J$20:$J$25</c:f>
              <c:numCache>
                <c:formatCode>0.0000</c:formatCode>
                <c:ptCount val="6"/>
                <c:pt idx="0">
                  <c:v>0.94404699999999997</c:v>
                </c:pt>
                <c:pt idx="1">
                  <c:v>0.82891300000000001</c:v>
                </c:pt>
                <c:pt idx="2">
                  <c:v>0.75477899999999998</c:v>
                </c:pt>
                <c:pt idx="3">
                  <c:v>0.67599299999999996</c:v>
                </c:pt>
                <c:pt idx="4">
                  <c:v>0.582237</c:v>
                </c:pt>
                <c:pt idx="5">
                  <c:v>0.50567799999999996</c:v>
                </c:pt>
              </c:numCache>
            </c:numRef>
          </c:val>
          <c:smooth val="0"/>
          <c:extLst>
            <c:ext xmlns:c15="http://schemas.microsoft.com/office/drawing/2012/chart" uri="{02D57815-91ED-43cb-92C2-25804820EDAC}">
              <c15:filteredSeriesTitle>
                <c15:tx>
                  <c:strRef>
                    <c:extLst>
                      <c:ext uri="{02D57815-91ED-43cb-92C2-25804820EDAC}">
                        <c15:formulaRef>
                          <c15:sqref>Sheet1!#REF!</c15:sqref>
                        </c15:formulaRef>
                      </c:ext>
                    </c:extLst>
                    <c:strCache>
                      <c:ptCount val="1"/>
                      <c:pt idx="0">
                        <c:v>#REF!</c:v>
                      </c:pt>
                    </c:strCache>
                  </c:strRef>
                </c15:tx>
              </c15:filteredSeriesTitle>
            </c:ext>
            <c:ext xmlns:c16="http://schemas.microsoft.com/office/drawing/2014/chart" uri="{C3380CC4-5D6E-409C-BE32-E72D297353CC}">
              <c16:uniqueId val="{00000003-7C1C-4F2A-987D-58732754AB0E}"/>
            </c:ext>
          </c:extLst>
        </c:ser>
        <c:dLbls>
          <c:showLegendKey val="0"/>
          <c:showVal val="0"/>
          <c:showCatName val="0"/>
          <c:showSerName val="0"/>
          <c:showPercent val="0"/>
          <c:showBubbleSize val="0"/>
        </c:dLbls>
        <c:marker val="1"/>
        <c:smooth val="0"/>
        <c:axId val="101394192"/>
        <c:axId val="101391792"/>
      </c:lineChart>
      <c:catAx>
        <c:axId val="101389872"/>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389392"/>
        <c:crosses val="autoZero"/>
        <c:auto val="1"/>
        <c:lblAlgn val="ctr"/>
        <c:lblOffset val="100"/>
        <c:noMultiLvlLbl val="0"/>
      </c:catAx>
      <c:valAx>
        <c:axId val="1013893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389872"/>
        <c:crosses val="autoZero"/>
        <c:crossBetween val="between"/>
      </c:valAx>
      <c:valAx>
        <c:axId val="101391792"/>
        <c:scaling>
          <c:orientation val="minMax"/>
        </c:scaling>
        <c:delete val="0"/>
        <c:axPos val="r"/>
        <c:numFmt formatCode="0.0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394192"/>
        <c:crosses val="max"/>
        <c:crossBetween val="between"/>
      </c:valAx>
      <c:catAx>
        <c:axId val="101394192"/>
        <c:scaling>
          <c:orientation val="minMax"/>
        </c:scaling>
        <c:delete val="1"/>
        <c:axPos val="b"/>
        <c:majorTickMark val="none"/>
        <c:minorTickMark val="none"/>
        <c:tickLblPos val="nextTo"/>
        <c:crossAx val="10139179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cap="none" spc="20" baseline="0">
                <a:solidFill>
                  <a:schemeClr val="dk1">
                    <a:lumMod val="50000"/>
                    <a:lumOff val="50000"/>
                  </a:schemeClr>
                </a:solidFill>
                <a:latin typeface="+mn-lt"/>
                <a:ea typeface="+mn-ea"/>
                <a:cs typeface="+mn-cs"/>
              </a:defRPr>
            </a:pPr>
            <a:r>
              <a:rPr lang="en-IN" sz="1800" dirty="0"/>
              <a:t>Training Loss &amp; Validation Loss for Llama &amp; Mistral with Different Rank &amp; Alpha</a:t>
            </a:r>
          </a:p>
        </c:rich>
      </c:tx>
      <c:overlay val="0"/>
      <c:spPr>
        <a:noFill/>
        <a:ln>
          <a:noFill/>
        </a:ln>
        <a:effectLst/>
      </c:spPr>
      <c:txPr>
        <a:bodyPr rot="0" spcFirstLastPara="1" vertOverflow="ellipsis" vert="horz" wrap="square" anchor="ctr" anchorCtr="1"/>
        <a:lstStyle/>
        <a:p>
          <a:pPr>
            <a:defRPr sz="1862" b="0" i="0" u="none" strike="noStrike" kern="1200" cap="none" spc="20" baseline="0">
              <a:solidFill>
                <a:schemeClr val="dk1">
                  <a:lumMod val="50000"/>
                  <a:lumOff val="50000"/>
                </a:schemeClr>
              </a:solidFill>
              <a:latin typeface="+mn-lt"/>
              <a:ea typeface="+mn-ea"/>
              <a:cs typeface="+mn-cs"/>
            </a:defRPr>
          </a:pPr>
          <a:endParaRPr lang="en-US"/>
        </a:p>
      </c:txPr>
    </c:title>
    <c:autoTitleDeleted val="0"/>
    <c:plotArea>
      <c:layout/>
      <c:lineChart>
        <c:grouping val="standard"/>
        <c:varyColors val="0"/>
        <c:ser>
          <c:idx val="0"/>
          <c:order val="0"/>
          <c:tx>
            <c:strRef>
              <c:f>Sheet1!$I$2</c:f>
              <c:strCache>
                <c:ptCount val="1"/>
                <c:pt idx="0">
                  <c:v>Training Loss</c:v>
                </c:pt>
              </c:strCache>
            </c:strRef>
          </c:tx>
          <c:spPr>
            <a:ln w="22225" cap="rnd" cmpd="sng" algn="ctr">
              <a:solidFill>
                <a:schemeClr val="accent1"/>
              </a:solidFill>
              <a:round/>
            </a:ln>
            <a:effectLst/>
          </c:spPr>
          <c:marker>
            <c:symbol val="none"/>
          </c:marker>
          <c:val>
            <c:numRef>
              <c:f>Sheet1!$I$3:$I$25</c:f>
              <c:numCache>
                <c:formatCode>0.0000</c:formatCode>
                <c:ptCount val="23"/>
                <c:pt idx="0">
                  <c:v>1.9782999999999999</c:v>
                </c:pt>
                <c:pt idx="1">
                  <c:v>1.7401</c:v>
                </c:pt>
                <c:pt idx="2">
                  <c:v>1.9037999999999999</c:v>
                </c:pt>
                <c:pt idx="3">
                  <c:v>1.5989</c:v>
                </c:pt>
                <c:pt idx="4">
                  <c:v>0.83189999999999997</c:v>
                </c:pt>
                <c:pt idx="5">
                  <c:v>2.1126999999999998</c:v>
                </c:pt>
                <c:pt idx="6">
                  <c:v>1.3271999999999999</c:v>
                </c:pt>
                <c:pt idx="7">
                  <c:v>1.0170999999999999</c:v>
                </c:pt>
                <c:pt idx="8">
                  <c:v>0.90080000000000005</c:v>
                </c:pt>
                <c:pt idx="9">
                  <c:v>0.79879999999999995</c:v>
                </c:pt>
                <c:pt idx="10">
                  <c:v>0.72219999999999995</c:v>
                </c:pt>
                <c:pt idx="11">
                  <c:v>1.6325000000000001</c:v>
                </c:pt>
                <c:pt idx="12">
                  <c:v>1.2461</c:v>
                </c:pt>
                <c:pt idx="13">
                  <c:v>1.0660000000000001</c:v>
                </c:pt>
                <c:pt idx="14">
                  <c:v>0.90620000000000001</c:v>
                </c:pt>
                <c:pt idx="15">
                  <c:v>0.8266</c:v>
                </c:pt>
                <c:pt idx="16">
                  <c:v>0.74890000000000001</c:v>
                </c:pt>
                <c:pt idx="17">
                  <c:v>0.92090000000000005</c:v>
                </c:pt>
                <c:pt idx="18">
                  <c:v>0.78600000000000003</c:v>
                </c:pt>
                <c:pt idx="19">
                  <c:v>0.71209999999999996</c:v>
                </c:pt>
                <c:pt idx="20">
                  <c:v>0.64780000000000004</c:v>
                </c:pt>
                <c:pt idx="21">
                  <c:v>0.57789999999999997</c:v>
                </c:pt>
                <c:pt idx="22">
                  <c:v>0.50380000000000003</c:v>
                </c:pt>
              </c:numCache>
            </c:numRef>
          </c:val>
          <c:smooth val="0"/>
          <c:extLst>
            <c:ext xmlns:c16="http://schemas.microsoft.com/office/drawing/2014/chart" uri="{C3380CC4-5D6E-409C-BE32-E72D297353CC}">
              <c16:uniqueId val="{00000000-E7DC-49BC-8893-3D83A4FDC470}"/>
            </c:ext>
          </c:extLst>
        </c:ser>
        <c:ser>
          <c:idx val="1"/>
          <c:order val="1"/>
          <c:tx>
            <c:strRef>
              <c:f>Sheet1!$J$2</c:f>
              <c:strCache>
                <c:ptCount val="1"/>
                <c:pt idx="0">
                  <c:v>Validation Loss</c:v>
                </c:pt>
              </c:strCache>
            </c:strRef>
          </c:tx>
          <c:spPr>
            <a:ln w="22225" cap="rnd" cmpd="sng" algn="ctr">
              <a:solidFill>
                <a:schemeClr val="accent2"/>
              </a:solidFill>
              <a:round/>
            </a:ln>
            <a:effectLst/>
          </c:spPr>
          <c:marker>
            <c:symbol val="none"/>
          </c:marker>
          <c:val>
            <c:numRef>
              <c:f>Sheet1!$J$3:$J$25</c:f>
              <c:numCache>
                <c:formatCode>0.0000</c:formatCode>
                <c:ptCount val="23"/>
                <c:pt idx="0">
                  <c:v>1.803633</c:v>
                </c:pt>
                <c:pt idx="1">
                  <c:v>1.611804</c:v>
                </c:pt>
                <c:pt idx="2">
                  <c:v>1.5968800000000001</c:v>
                </c:pt>
                <c:pt idx="3">
                  <c:v>1.3353299999999999</c:v>
                </c:pt>
                <c:pt idx="4">
                  <c:v>0.90045500000000001</c:v>
                </c:pt>
                <c:pt idx="5">
                  <c:v>1.913314</c:v>
                </c:pt>
                <c:pt idx="6">
                  <c:v>1.2961069999999999</c:v>
                </c:pt>
                <c:pt idx="7">
                  <c:v>1.059404</c:v>
                </c:pt>
                <c:pt idx="8">
                  <c:v>0.95513000000000003</c:v>
                </c:pt>
                <c:pt idx="9">
                  <c:v>0.86003099999999999</c:v>
                </c:pt>
                <c:pt idx="10">
                  <c:v>0.77486100000000002</c:v>
                </c:pt>
                <c:pt idx="11">
                  <c:v>1.507836</c:v>
                </c:pt>
                <c:pt idx="12">
                  <c:v>1.2366410000000001</c:v>
                </c:pt>
                <c:pt idx="13">
                  <c:v>1.0942259999999999</c:v>
                </c:pt>
                <c:pt idx="14">
                  <c:v>0.96904999999999997</c:v>
                </c:pt>
                <c:pt idx="15">
                  <c:v>0.882988</c:v>
                </c:pt>
                <c:pt idx="16">
                  <c:v>0.77924700000000002</c:v>
                </c:pt>
                <c:pt idx="17">
                  <c:v>0.94404699999999997</c:v>
                </c:pt>
                <c:pt idx="18">
                  <c:v>0.82891300000000001</c:v>
                </c:pt>
                <c:pt idx="19">
                  <c:v>0.75477899999999998</c:v>
                </c:pt>
                <c:pt idx="20">
                  <c:v>0.67599299999999996</c:v>
                </c:pt>
                <c:pt idx="21">
                  <c:v>0.582237</c:v>
                </c:pt>
                <c:pt idx="22">
                  <c:v>0.50567799999999996</c:v>
                </c:pt>
              </c:numCache>
            </c:numRef>
          </c:val>
          <c:smooth val="0"/>
          <c:extLst>
            <c:ext xmlns:c16="http://schemas.microsoft.com/office/drawing/2014/chart" uri="{C3380CC4-5D6E-409C-BE32-E72D297353CC}">
              <c16:uniqueId val="{00000001-E7DC-49BC-8893-3D83A4FDC470}"/>
            </c:ext>
          </c:extLst>
        </c:ser>
        <c:dLbls>
          <c:dLblPos val="ctr"/>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upDownBars>
          <c:gapWidth val="150"/>
          <c:upBars>
            <c:spPr>
              <a:solidFill>
                <a:schemeClr val="lt1"/>
              </a:solidFill>
              <a:ln w="9525">
                <a:solidFill>
                  <a:schemeClr val="dk1">
                    <a:lumMod val="65000"/>
                    <a:lumOff val="35000"/>
                  </a:schemeClr>
                </a:solidFill>
              </a:ln>
              <a:effectLst/>
            </c:spPr>
          </c:upBars>
          <c:downBars>
            <c:spPr>
              <a:solidFill>
                <a:schemeClr val="dk1">
                  <a:lumMod val="75000"/>
                  <a:lumOff val="25000"/>
                </a:schemeClr>
              </a:solidFill>
              <a:ln w="9525">
                <a:solidFill>
                  <a:schemeClr val="dk1">
                    <a:lumMod val="65000"/>
                    <a:lumOff val="35000"/>
                  </a:schemeClr>
                </a:solidFill>
              </a:ln>
              <a:effectLst/>
            </c:spPr>
          </c:downBars>
        </c:upDownBars>
        <c:smooth val="0"/>
        <c:axId val="103995456"/>
        <c:axId val="103995936"/>
      </c:lineChart>
      <c:catAx>
        <c:axId val="103995456"/>
        <c:scaling>
          <c:orientation val="minMax"/>
        </c:scaling>
        <c:delete val="1"/>
        <c:axPos val="b"/>
        <c:title>
          <c:tx>
            <c:rich>
              <a:bodyPr rot="0" spcFirstLastPara="1" vertOverflow="ellipsis" vert="horz" wrap="square" anchor="ctr" anchorCtr="1"/>
              <a:lstStyle/>
              <a:p>
                <a:pPr>
                  <a:defRPr sz="1197" b="0" i="0" u="none" strike="noStrike" kern="1200" cap="all" baseline="0">
                    <a:solidFill>
                      <a:schemeClr val="dk1">
                        <a:lumMod val="65000"/>
                        <a:lumOff val="35000"/>
                      </a:schemeClr>
                    </a:solidFill>
                    <a:latin typeface="+mn-lt"/>
                    <a:ea typeface="+mn-ea"/>
                    <a:cs typeface="+mn-cs"/>
                  </a:defRPr>
                </a:pPr>
                <a:r>
                  <a:rPr lang="en-IN" dirty="0"/>
                  <a:t>Llama</a:t>
                </a:r>
                <a:r>
                  <a:rPr lang="en-IN" baseline="0" dirty="0"/>
                  <a:t>-2 4 Bits            Llama -2 8 Bits           LLAMA -3 4 bits           Mistral 7B 4 Bits      </a:t>
                </a:r>
                <a:endParaRPr lang="en-IN" dirty="0"/>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dk1">
                      <a:lumMod val="65000"/>
                      <a:lumOff val="35000"/>
                    </a:schemeClr>
                  </a:solidFill>
                  <a:latin typeface="+mn-lt"/>
                  <a:ea typeface="+mn-ea"/>
                  <a:cs typeface="+mn-cs"/>
                </a:defRPr>
              </a:pPr>
              <a:endParaRPr lang="en-US"/>
            </a:p>
          </c:txPr>
        </c:title>
        <c:majorTickMark val="none"/>
        <c:minorTickMark val="none"/>
        <c:tickLblPos val="nextTo"/>
        <c:crossAx val="103995936"/>
        <c:crosses val="autoZero"/>
        <c:auto val="1"/>
        <c:lblAlgn val="ctr"/>
        <c:lblOffset val="100"/>
        <c:noMultiLvlLbl val="0"/>
      </c:catAx>
      <c:valAx>
        <c:axId val="103995936"/>
        <c:scaling>
          <c:orientation val="minMax"/>
        </c:scaling>
        <c:delete val="1"/>
        <c:axPos val="l"/>
        <c:majorGridlines>
          <c:spPr>
            <a:ln>
              <a:solidFill>
                <a:schemeClr val="dk1">
                  <a:lumMod val="15000"/>
                  <a:lumOff val="85000"/>
                </a:schemeClr>
              </a:solidFill>
            </a:ln>
            <a:effectLst/>
          </c:spPr>
        </c:majorGridlines>
        <c:title>
          <c:tx>
            <c:rich>
              <a:bodyPr rot="-5400000" spcFirstLastPara="1" vertOverflow="ellipsis" vert="horz" wrap="square" anchor="ctr" anchorCtr="1"/>
              <a:lstStyle/>
              <a:p>
                <a:pPr>
                  <a:defRPr sz="1197" b="0" i="0" u="none" strike="noStrike" kern="1200" cap="all" baseline="0">
                    <a:solidFill>
                      <a:schemeClr val="dk1">
                        <a:lumMod val="65000"/>
                        <a:lumOff val="35000"/>
                      </a:schemeClr>
                    </a:solidFill>
                    <a:latin typeface="+mn-lt"/>
                    <a:ea typeface="+mn-ea"/>
                    <a:cs typeface="+mn-cs"/>
                  </a:defRPr>
                </a:pPr>
                <a:r>
                  <a:rPr lang="en-IN" dirty="0"/>
                  <a:t>Training &amp; validation loss</a:t>
                </a: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dk1">
                      <a:lumMod val="65000"/>
                      <a:lumOff val="35000"/>
                    </a:schemeClr>
                  </a:solidFill>
                  <a:latin typeface="+mn-lt"/>
                  <a:ea typeface="+mn-ea"/>
                  <a:cs typeface="+mn-cs"/>
                </a:defRPr>
              </a:pPr>
              <a:endParaRPr lang="en-US"/>
            </a:p>
          </c:txPr>
        </c:title>
        <c:numFmt formatCode="0.0000" sourceLinked="1"/>
        <c:majorTickMark val="none"/>
        <c:minorTickMark val="none"/>
        <c:tickLblPos val="nextTo"/>
        <c:crossAx val="103995456"/>
        <c:crosses val="autoZero"/>
        <c:crossBetween val="between"/>
      </c:valAx>
      <c:spPr>
        <a:gradFill>
          <a:gsLst>
            <a:gs pos="100000">
              <a:schemeClr val="lt1">
                <a:lumMod val="95000"/>
              </a:schemeClr>
            </a:gs>
            <a:gs pos="0">
              <a:schemeClr val="lt1"/>
            </a:gs>
          </a:gsLst>
          <a:lin ang="5400000" scaled="0"/>
        </a:gradFill>
        <a:ln>
          <a:noFill/>
        </a:ln>
        <a:effectLst/>
      </c:spPr>
    </c:plotArea>
    <c:legend>
      <c:legendPos val="r"/>
      <c:overlay val="0"/>
      <c:spPr>
        <a:no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1197"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1197" kern="1200"/>
  </cs:chartArea>
  <cs:dataLabel>
    <cs:lnRef idx="0"/>
    <cs:fillRef idx="0"/>
    <cs:effectRef idx="0"/>
    <cs:fontRef idx="minor">
      <a:schemeClr val="dk1">
        <a:lumMod val="65000"/>
        <a:lumOff val="3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862"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1197" kern="1200" spc="20" baseline="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6D67BA5D-9EF6-41ED-A497-9DCB5C40ABA1}" type="datetimeFigureOut">
              <a:rPr lang="en-IN" smtClean="0"/>
              <a:t>02-09-2024</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4140221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7BA5D-9EF6-41ED-A497-9DCB5C40ABA1}" type="datetimeFigureOut">
              <a:rPr lang="en-IN" smtClean="0"/>
              <a:t>02-09-2024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39040315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67BA5D-9EF6-41ED-A497-9DCB5C40ABA1}" type="datetimeFigureOut">
              <a:rPr lang="en-IN" smtClean="0"/>
              <a:t>02-09-2024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4246804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615657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D67BA5D-9EF6-41ED-A497-9DCB5C40ABA1}" type="datetimeFigureOut">
              <a:rPr lang="en-IN" smtClean="0"/>
              <a:t>02-09-2024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1947490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D67BA5D-9EF6-41ED-A497-9DCB5C40ABA1}" type="datetimeFigureOut">
              <a:rPr lang="en-IN" smtClean="0"/>
              <a:t>02-09-2024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38981589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67BA5D-9EF6-41ED-A497-9DCB5C40ABA1}" type="datetimeFigureOut">
              <a:rPr lang="en-IN" smtClean="0"/>
              <a:t>02-09-2024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2664062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41412063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16701306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1204958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29593137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646884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D67BA5D-9EF6-41ED-A497-9DCB5C40ABA1}" type="datetimeFigureOut">
              <a:rPr lang="en-IN" smtClean="0"/>
              <a:t>02-09-2024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3991389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D67BA5D-9EF6-41ED-A497-9DCB5C40ABA1}" type="datetimeFigureOut">
              <a:rPr lang="en-IN" smtClean="0"/>
              <a:t>02-09-2024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739005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6D67BA5D-9EF6-41ED-A497-9DCB5C40ABA1}" type="datetimeFigureOut">
              <a:rPr lang="en-IN" smtClean="0"/>
              <a:t>02-09-2024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210093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7BA5D-9EF6-41ED-A497-9DCB5C40ABA1}" type="datetimeFigureOut">
              <a:rPr lang="en-IN" smtClean="0"/>
              <a:t>02-09-2024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18947120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D67BA5D-9EF6-41ED-A497-9DCB5C40ABA1}" type="datetimeFigureOut">
              <a:rPr lang="en-IN" smtClean="0"/>
              <a:t>02-09-2024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9163084-35E0-40AE-8244-8BD33C265442}" type="slidenum">
              <a:rPr lang="en-IN" smtClean="0"/>
              <a:t>‹#›</a:t>
            </a:fld>
            <a:endParaRPr lang="en-IN"/>
          </a:p>
        </p:txBody>
      </p:sp>
    </p:spTree>
    <p:extLst>
      <p:ext uri="{BB962C8B-B14F-4D97-AF65-F5344CB8AC3E}">
        <p14:creationId xmlns:p14="http://schemas.microsoft.com/office/powerpoint/2010/main" val="25003276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67BA5D-9EF6-41ED-A497-9DCB5C40ABA1}" type="datetimeFigureOut">
              <a:rPr lang="en-IN" smtClean="0"/>
              <a:t>02-09-2024</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9163084-35E0-40AE-8244-8BD33C265442}" type="slidenum">
              <a:rPr lang="en-IN" smtClean="0"/>
              <a:t>‹#›</a:t>
            </a:fld>
            <a:endParaRPr lang="en-IN"/>
          </a:p>
        </p:txBody>
      </p:sp>
    </p:spTree>
    <p:extLst>
      <p:ext uri="{BB962C8B-B14F-4D97-AF65-F5344CB8AC3E}">
        <p14:creationId xmlns:p14="http://schemas.microsoft.com/office/powerpoint/2010/main" val="2028782234"/>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3947652" y="1317523"/>
            <a:ext cx="4296696" cy="4414684"/>
          </a:xfrm>
        </p:spPr>
        <p:txBody>
          <a:bodyPr>
            <a:noAutofit/>
          </a:bodyPr>
          <a:lstStyle/>
          <a:p>
            <a:pPr algn="ctr"/>
            <a:r>
              <a:rPr lang="en-IN" sz="1800" dirty="0">
                <a:solidFill>
                  <a:schemeClr val="tx1"/>
                </a:solidFill>
                <a:latin typeface="Times New Roman" panose="02020603050405020304" pitchFamily="18" charset="0"/>
                <a:cs typeface="Times New Roman" panose="02020603050405020304" pitchFamily="18" charset="0"/>
              </a:rPr>
              <a:t>Text to SQL using LLM</a:t>
            </a:r>
          </a:p>
          <a:p>
            <a:pPr algn="ct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Suresh Kumar Singh</a:t>
            </a:r>
          </a:p>
          <a:p>
            <a:pPr algn="ctr"/>
            <a:r>
              <a:rPr lang="en-US" sz="1800" dirty="0">
                <a:solidFill>
                  <a:schemeClr val="tx1"/>
                </a:solidFill>
                <a:latin typeface="Times New Roman" panose="02020603050405020304" pitchFamily="18" charset="0"/>
                <a:cs typeface="Times New Roman" panose="02020603050405020304" pitchFamily="18" charset="0"/>
              </a:rPr>
              <a:t>Student ID:</a:t>
            </a:r>
            <a:r>
              <a:rPr lang="en-IN" sz="1800" dirty="0">
                <a:solidFill>
                  <a:schemeClr val="tx1"/>
                </a:solidFill>
                <a:latin typeface="Times New Roman" panose="02020603050405020304" pitchFamily="18" charset="0"/>
                <a:cs typeface="Times New Roman" panose="02020603050405020304" pitchFamily="18" charset="0"/>
              </a:rPr>
              <a:t>1130001</a:t>
            </a:r>
          </a:p>
          <a:p>
            <a:pPr algn="ct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Final Thesis Presentation for </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Master of Science in Data Science</a:t>
            </a:r>
            <a:br>
              <a:rPr lang="en-US" sz="1800" dirty="0">
                <a:solidFill>
                  <a:schemeClr val="tx1"/>
                </a:solidFill>
                <a:latin typeface="Times New Roman" panose="02020603050405020304" pitchFamily="18" charset="0"/>
                <a:cs typeface="Times New Roman" panose="02020603050405020304" pitchFamily="18" charset="0"/>
              </a:rPr>
            </a:b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Liverpool John Moores University </a:t>
            </a:r>
          </a:p>
          <a:p>
            <a:pPr algn="ctr"/>
            <a:r>
              <a:rPr lang="en-US" sz="1800" dirty="0">
                <a:solidFill>
                  <a:schemeClr val="tx1"/>
                </a:solidFill>
                <a:latin typeface="Times New Roman" panose="02020603050405020304" pitchFamily="18" charset="0"/>
                <a:cs typeface="Times New Roman" panose="02020603050405020304" pitchFamily="18" charset="0"/>
              </a:rPr>
              <a:t>February 2024</a:t>
            </a:r>
            <a:endParaRPr lang="en-IN" sz="1800" dirty="0">
              <a:solidFill>
                <a:schemeClr val="tx1"/>
              </a:solidFill>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A44FFA47-2286-653B-24EE-2C216C928A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22800" y="412954"/>
            <a:ext cx="2423556" cy="746117"/>
          </a:xfrm>
          <a:prstGeom prst="rect">
            <a:avLst/>
          </a:prstGeom>
        </p:spPr>
      </p:pic>
    </p:spTree>
    <p:extLst>
      <p:ext uri="{BB962C8B-B14F-4D97-AF65-F5344CB8AC3E}">
        <p14:creationId xmlns:p14="http://schemas.microsoft.com/office/powerpoint/2010/main" val="20542645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399071" y="176977"/>
            <a:ext cx="7521678" cy="481781"/>
          </a:xfrm>
        </p:spPr>
        <p:txBody>
          <a:bodyPr>
            <a:normAutofit lnSpcReduction="10000"/>
          </a:bodyPr>
          <a:lstStyle/>
          <a:p>
            <a:r>
              <a:rPr lang="en-IN" sz="24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Introduction</a:t>
            </a:r>
          </a:p>
        </p:txBody>
      </p:sp>
      <p:cxnSp>
        <p:nvCxnSpPr>
          <p:cNvPr id="3" name="Straight Connector 2">
            <a:extLst>
              <a:ext uri="{FF2B5EF4-FFF2-40B4-BE49-F238E27FC236}">
                <a16:creationId xmlns:a16="http://schemas.microsoft.com/office/drawing/2014/main" id="{2FE8949B-15B1-CFCC-9248-063F29558ECB}"/>
              </a:ext>
            </a:extLst>
          </p:cNvPr>
          <p:cNvCxnSpPr>
            <a:cxnSpLocks/>
          </p:cNvCxnSpPr>
          <p:nvPr/>
        </p:nvCxnSpPr>
        <p:spPr>
          <a:xfrm>
            <a:off x="2507225" y="550606"/>
            <a:ext cx="7956000" cy="0"/>
          </a:xfrm>
          <a:prstGeom prst="line">
            <a:avLst/>
          </a:prstGeom>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657C8742-B4E8-DB56-98C4-07B4655F320E}"/>
              </a:ext>
            </a:extLst>
          </p:cNvPr>
          <p:cNvSpPr txBox="1"/>
          <p:nvPr/>
        </p:nvSpPr>
        <p:spPr>
          <a:xfrm>
            <a:off x="2438399" y="764024"/>
            <a:ext cx="8721214" cy="6186309"/>
          </a:xfrm>
          <a:prstGeom prst="rect">
            <a:avLst/>
          </a:prstGeom>
          <a:noFill/>
        </p:spPr>
        <p:txBody>
          <a:bodyPr wrap="square" rtlCol="0">
            <a:spAutoFit/>
          </a:bodyPr>
          <a:lstStyle/>
          <a:p>
            <a:r>
              <a:rPr lang="en-IN"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BACKGROUND</a:t>
            </a:r>
          </a:p>
          <a:p>
            <a:endParaRPr lang="en-IN" sz="12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NL to SQL is crucial for simplifying database interactions by allowing users to generate SQL queries using Natural Language</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LLM based Text to SQL systems accelerate business report generation and enhance accessibility for non-technical users</a:t>
            </a: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Open-source LLMs like LLaMA and Mistral present opportunities for developing efficient and cost-effective Text to SQL solutions</a:t>
            </a:r>
          </a:p>
          <a:p>
            <a:endParaRPr lang="en-IN" sz="1200" dirty="0">
              <a:latin typeface="Times New Roman" panose="02020603050405020304" pitchFamily="18" charset="0"/>
              <a:cs typeface="Times New Roman" panose="02020603050405020304" pitchFamily="18" charset="0"/>
            </a:endParaRPr>
          </a:p>
          <a:p>
            <a:r>
              <a:rPr lang="en-IN"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CHALLENGES WITH EXISTING APPROACHES </a:t>
            </a:r>
          </a:p>
          <a:p>
            <a:endParaRPr lang="en-IN" sz="12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Costly Fine-tuning techniques are required to enhance the performance of open-source LLMs in Text-to-SQL tasks</a:t>
            </a: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Optimizing token efficiency remains a significant challenge in improving LLM-based Text to SQL systems</a:t>
            </a: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Balancing the trade-offs between fine-tuning methods like LoRA and QLoRA in terms of performance and resource efficiency is essential</a:t>
            </a:r>
            <a:endParaRPr lang="en-IN" sz="1600" dirty="0">
              <a:latin typeface="Times New Roman" panose="02020603050405020304" pitchFamily="18" charset="0"/>
              <a:ea typeface="Calibri" panose="020F0502020204030204" pitchFamily="34"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p>
            <a:r>
              <a:rPr lang="en-IN"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OBJECTIVE</a:t>
            </a:r>
          </a:p>
          <a:p>
            <a:endParaRPr lang="en-IN"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Explore and assess the potential of open-source LLMs, focusing on LLaMA and Mistral, for effective Text-to-SQL translation</a:t>
            </a: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Optimize the use of fine-tuning techniques like LoRA and QLoRA to enhance the performance of Text-to-SQL systems</a:t>
            </a:r>
            <a:endParaRPr lang="en-IN" sz="16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70389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28569" y="157314"/>
            <a:ext cx="2880852" cy="481778"/>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Introduction</a:t>
            </a:r>
          </a:p>
        </p:txBody>
      </p:sp>
      <p:cxnSp>
        <p:nvCxnSpPr>
          <p:cNvPr id="11" name="Straight Connector 10">
            <a:extLst>
              <a:ext uri="{FF2B5EF4-FFF2-40B4-BE49-F238E27FC236}">
                <a16:creationId xmlns:a16="http://schemas.microsoft.com/office/drawing/2014/main" id="{9DE074C3-E475-13EA-9CFC-824FD0A60670}"/>
              </a:ext>
            </a:extLst>
          </p:cNvPr>
          <p:cNvCxnSpPr>
            <a:cxnSpLocks/>
          </p:cNvCxnSpPr>
          <p:nvPr/>
        </p:nvCxnSpPr>
        <p:spPr>
          <a:xfrm>
            <a:off x="2507225" y="550604"/>
            <a:ext cx="7956000" cy="0"/>
          </a:xfrm>
          <a:prstGeom prst="line">
            <a:avLst/>
          </a:prstGeom>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C3D841F7-D699-C15C-0C34-25E176417CC5}"/>
              </a:ext>
            </a:extLst>
          </p:cNvPr>
          <p:cNvSpPr txBox="1"/>
          <p:nvPr/>
        </p:nvSpPr>
        <p:spPr>
          <a:xfrm>
            <a:off x="2418736" y="727587"/>
            <a:ext cx="8034657" cy="5693866"/>
          </a:xfrm>
          <a:prstGeom prst="rect">
            <a:avLst/>
          </a:prstGeom>
          <a:noFill/>
        </p:spPr>
        <p:txBody>
          <a:bodyPr wrap="square" rtlCol="0">
            <a:spAutoFit/>
          </a:bodyPr>
          <a:lstStyle/>
          <a:p>
            <a:pPr algn="ctr"/>
            <a:r>
              <a:rPr lang="en-US" b="1" dirty="0">
                <a:solidFill>
                  <a:schemeClr val="bg2"/>
                </a:solidFill>
                <a:latin typeface="Times New Roman" panose="02020603050405020304" pitchFamily="18" charset="0"/>
                <a:cs typeface="Times New Roman" panose="02020603050405020304" pitchFamily="18" charset="0"/>
              </a:rPr>
              <a:t>RESEARCH MOTIVATION </a:t>
            </a:r>
          </a:p>
          <a:p>
            <a:endParaRPr lang="en-IN" sz="1200" dirty="0">
              <a:solidFill>
                <a:schemeClr val="bg1"/>
              </a:solidFill>
            </a:endParaRPr>
          </a:p>
          <a:p>
            <a:r>
              <a:rPr lang="en-IN"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SIMPLIFYING DATABASE ACCESS</a:t>
            </a:r>
          </a:p>
          <a:p>
            <a:r>
              <a:rPr lang="en-IN" sz="1600" dirty="0">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Simplification of database access for non-technical users, making it possible to generate complex SQL queries using Natural Language</a:t>
            </a:r>
          </a:p>
          <a:p>
            <a:pPr marL="285750" indent="-285750">
              <a:buFont typeface="Arial" panose="020B0604020202020204" pitchFamily="34" charset="0"/>
              <a:buChar char="•"/>
            </a:pPr>
            <a:endParaRPr lang="en-US" sz="1200" b="1" dirty="0">
              <a:latin typeface="Times New Roman" panose="02020603050405020304" pitchFamily="18" charset="0"/>
              <a:ea typeface="Calibri" panose="020F0502020204030204" pitchFamily="34" charset="0"/>
              <a:cs typeface="Times New Roman" panose="02020603050405020304" pitchFamily="18" charset="0"/>
            </a:endParaRPr>
          </a:p>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OPTIMIZING LLM PERFORMANCE</a:t>
            </a:r>
          </a:p>
          <a:p>
            <a:endParaRPr lang="en-US" sz="12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The research is driven by the desire to explore and optimize open-source LLMs for Text to SQL tasks, addressing the limitations of existing models in handling complex queries</a:t>
            </a:r>
          </a:p>
          <a:p>
            <a:pPr marL="285750" indent="-285750">
              <a:buFont typeface="Arial" panose="020B0604020202020204" pitchFamily="34" charset="0"/>
              <a:buChar char="•"/>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LEVERAGING FINE TUNING TECHNIQUES</a:t>
            </a:r>
          </a:p>
          <a:p>
            <a:r>
              <a:rPr lang="en-US" sz="1600" dirty="0">
                <a:latin typeface="Times New Roman" panose="02020603050405020304" pitchFamily="18" charset="0"/>
                <a:ea typeface="Calibri" panose="020F0502020204030204" pitchFamily="34" charset="0"/>
                <a:cs typeface="Times New Roman" panose="02020603050405020304" pitchFamily="18" charset="0"/>
              </a:rPr>
              <a:t> </a:t>
            </a: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The potential to improve LLM-based Text to SQL solutions through advanced fine-tuning techniques like LoRA and QLoRA motivates this research, aiming to balance performance and resource efficiency</a:t>
            </a:r>
          </a:p>
          <a:p>
            <a:pPr marL="285750" indent="-285750">
              <a:buFont typeface="Arial" panose="020B0604020202020204" pitchFamily="34" charset="0"/>
              <a:buChar char="•"/>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CONTRIBUTING TO THE FIELD </a:t>
            </a:r>
          </a:p>
          <a:p>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The research is inspired by the opportunity to contribute to the development of efficient and cost-effective LLM-based Text to SQL systems which can be applied across various domains</a:t>
            </a:r>
          </a:p>
          <a:p>
            <a:endParaRPr lang="en-US" dirty="0"/>
          </a:p>
        </p:txBody>
      </p:sp>
    </p:spTree>
    <p:extLst>
      <p:ext uri="{BB962C8B-B14F-4D97-AF65-F5344CB8AC3E}">
        <p14:creationId xmlns:p14="http://schemas.microsoft.com/office/powerpoint/2010/main" val="3437637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08902" y="147487"/>
            <a:ext cx="7934632" cy="432619"/>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Aim &amp; Objective</a:t>
            </a:r>
          </a:p>
        </p:txBody>
      </p:sp>
      <p:sp>
        <p:nvSpPr>
          <p:cNvPr id="2" name="TextBox 1">
            <a:extLst>
              <a:ext uri="{FF2B5EF4-FFF2-40B4-BE49-F238E27FC236}">
                <a16:creationId xmlns:a16="http://schemas.microsoft.com/office/drawing/2014/main" id="{E096319A-AFFA-3322-4C93-9A890FB2E7DE}"/>
              </a:ext>
            </a:extLst>
          </p:cNvPr>
          <p:cNvSpPr txBox="1"/>
          <p:nvPr/>
        </p:nvSpPr>
        <p:spPr>
          <a:xfrm>
            <a:off x="2497394" y="1307691"/>
            <a:ext cx="7934632" cy="3908762"/>
          </a:xfrm>
          <a:prstGeom prst="rect">
            <a:avLst/>
          </a:prstGeom>
          <a:noFill/>
        </p:spPr>
        <p:txBody>
          <a:bodyPr wrap="square" rtlCol="0">
            <a:spAutoFit/>
          </a:bodyPr>
          <a:lstStyle/>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LEVERAGE LLM FOR TEXT TO SQL </a:t>
            </a:r>
          </a:p>
          <a:p>
            <a:endParaRPr lang="en-US" sz="12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Utilize the capabilities of advanced open-source LLMs like LLaMA and Mistral to convert natural language into SQL queries.</a:t>
            </a:r>
          </a:p>
          <a:p>
            <a:pPr marL="285750" indent="-285750">
              <a:buFont typeface="Arial" panose="020B0604020202020204" pitchFamily="34" charset="0"/>
              <a:buChar char="•"/>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FINE TUNING WITH QLoRA &amp; LoRA</a:t>
            </a:r>
          </a:p>
          <a:p>
            <a:endParaRPr lang="en-US" sz="12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Develop and implement fine-tuning strategies using QLoRA and LoRA techniques to enhance the accuracy and efficiency of LLMs in translating natural language queries to SQL</a:t>
            </a:r>
          </a:p>
          <a:p>
            <a:pPr marL="285750" indent="-285750">
              <a:buFont typeface="Arial" panose="020B0604020202020204" pitchFamily="34" charset="0"/>
              <a:buChar char="•"/>
            </a:pPr>
            <a:endParaRPr lang="en-US" sz="1200" dirty="0">
              <a:latin typeface="Times New Roman" panose="02020603050405020304" pitchFamily="18" charset="0"/>
              <a:ea typeface="Calibri" panose="020F0502020204030204" pitchFamily="34" charset="0"/>
              <a:cs typeface="Times New Roman" panose="02020603050405020304" pitchFamily="18" charset="0"/>
            </a:endParaRPr>
          </a:p>
          <a:p>
            <a:r>
              <a:rPr lang="en-US" sz="1600" b="1" dirty="0">
                <a:solidFill>
                  <a:schemeClr val="bg2"/>
                </a:solidFill>
                <a:latin typeface="Times New Roman" panose="02020603050405020304" pitchFamily="18" charset="0"/>
                <a:ea typeface="Calibri" panose="020F0502020204030204" pitchFamily="34" charset="0"/>
                <a:cs typeface="Times New Roman" panose="02020603050405020304" pitchFamily="18" charset="0"/>
              </a:rPr>
              <a:t>PERFOMANCE EVALUTION</a:t>
            </a:r>
          </a:p>
          <a:p>
            <a:endParaRPr lang="en-US" sz="12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ea typeface="Calibri" panose="020F0502020204030204" pitchFamily="34" charset="0"/>
                <a:cs typeface="Times New Roman" panose="02020603050405020304" pitchFamily="18" charset="0"/>
              </a:rPr>
              <a:t>Evaluate the effectiveness of fine-tuned LLaMA and Mistral models on a Text to SQL dataset, comparing their performance with different Quantization, Rank and Alpha of QLoRA &amp; LoRA Hyperparameters</a:t>
            </a:r>
          </a:p>
          <a:p>
            <a:endParaRPr lang="en-IN" sz="1200" dirty="0"/>
          </a:p>
        </p:txBody>
      </p:sp>
      <p:cxnSp>
        <p:nvCxnSpPr>
          <p:cNvPr id="5" name="Straight Connector 4">
            <a:extLst>
              <a:ext uri="{FF2B5EF4-FFF2-40B4-BE49-F238E27FC236}">
                <a16:creationId xmlns:a16="http://schemas.microsoft.com/office/drawing/2014/main" id="{1FB0926B-944F-A126-7763-F24007ED26D1}"/>
              </a:ext>
            </a:extLst>
          </p:cNvPr>
          <p:cNvCxnSpPr/>
          <p:nvPr/>
        </p:nvCxnSpPr>
        <p:spPr>
          <a:xfrm>
            <a:off x="2497394" y="550610"/>
            <a:ext cx="793463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0095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08904" y="147486"/>
            <a:ext cx="7177548" cy="412954"/>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Literature Review</a:t>
            </a:r>
          </a:p>
        </p:txBody>
      </p:sp>
      <p:sp>
        <p:nvSpPr>
          <p:cNvPr id="2" name="TextBox 1">
            <a:extLst>
              <a:ext uri="{FF2B5EF4-FFF2-40B4-BE49-F238E27FC236}">
                <a16:creationId xmlns:a16="http://schemas.microsoft.com/office/drawing/2014/main" id="{934E537A-B779-1A72-9645-16C73446C5ED}"/>
              </a:ext>
            </a:extLst>
          </p:cNvPr>
          <p:cNvSpPr txBox="1"/>
          <p:nvPr/>
        </p:nvSpPr>
        <p:spPr>
          <a:xfrm>
            <a:off x="2517058" y="924232"/>
            <a:ext cx="8662219" cy="5139869"/>
          </a:xfrm>
          <a:prstGeom prst="rect">
            <a:avLst/>
          </a:prstGeom>
          <a:noFill/>
        </p:spPr>
        <p:txBody>
          <a:bodyPr wrap="square" rtlCol="0">
            <a:spAutoFit/>
          </a:bodyPr>
          <a:lstStyle/>
          <a:p>
            <a:pPr algn="ctr"/>
            <a:r>
              <a:rPr lang="en-IN" b="1" dirty="0">
                <a:solidFill>
                  <a:schemeClr val="bg2"/>
                </a:solidFill>
                <a:latin typeface="Times New Roman" panose="02020603050405020304" pitchFamily="18" charset="0"/>
                <a:cs typeface="Times New Roman" panose="02020603050405020304" pitchFamily="18" charset="0"/>
              </a:rPr>
              <a:t>EVOLUTION OF TEXT TO SQL SYSTEMS</a:t>
            </a:r>
          </a:p>
          <a:p>
            <a:r>
              <a:rPr lang="en-US" sz="1600" b="1" dirty="0">
                <a:solidFill>
                  <a:schemeClr val="bg2"/>
                </a:solidFill>
                <a:latin typeface="Times New Roman" panose="02020603050405020304" pitchFamily="18" charset="0"/>
                <a:cs typeface="Times New Roman" panose="02020603050405020304" pitchFamily="18" charset="0"/>
              </a:rPr>
              <a:t>EARLY APPROACHES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Initial Text to SQL systems relied on rule-based methods, which were limited by the complexity and variability of natural language.</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EMERGENCE OF NEURAL NETWORKS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introduction of neural sequence-to-sequence models marked a significant advancement, enabling more flexible and accurate translation of natural language into SQL queries.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TRANSFORMER BASED MODELS</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development of transformer-based models like BERT and GPT revolutionized Text to SQL tasks, offering significant improvements in translation accuracy and handling complex queries.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BENCHMARK ACHIEVEMENTS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Pre-trained models like BERT, GPT demonstrated high performance on synthetic benchmarks, with accuracy surpassing 70% on standard NLIDB datasets, but concerns remained about their robustness in real-world scenarios.</a:t>
            </a:r>
            <a:endParaRPr lang="en-IN" sz="1600" dirty="0">
              <a:latin typeface="Times New Roman" panose="02020603050405020304" pitchFamily="18" charset="0"/>
              <a:cs typeface="Times New Roman" panose="02020603050405020304" pitchFamily="18" charset="0"/>
            </a:endParaRPr>
          </a:p>
          <a:p>
            <a:endParaRPr lang="en-IN" dirty="0"/>
          </a:p>
        </p:txBody>
      </p:sp>
      <p:cxnSp>
        <p:nvCxnSpPr>
          <p:cNvPr id="6" name="Straight Connector 5">
            <a:extLst>
              <a:ext uri="{FF2B5EF4-FFF2-40B4-BE49-F238E27FC236}">
                <a16:creationId xmlns:a16="http://schemas.microsoft.com/office/drawing/2014/main" id="{A234B482-694D-B3C6-AF42-0A612B967AB3}"/>
              </a:ext>
            </a:extLst>
          </p:cNvPr>
          <p:cNvCxnSpPr/>
          <p:nvPr/>
        </p:nvCxnSpPr>
        <p:spPr>
          <a:xfrm>
            <a:off x="2517058" y="550608"/>
            <a:ext cx="786580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20819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123ACF1-4941-B30B-E30B-A754C832F03B}"/>
              </a:ext>
            </a:extLst>
          </p:cNvPr>
          <p:cNvSpPr txBox="1">
            <a:spLocks/>
          </p:cNvSpPr>
          <p:nvPr/>
        </p:nvSpPr>
        <p:spPr>
          <a:xfrm>
            <a:off x="1710812" y="147486"/>
            <a:ext cx="3677264" cy="412954"/>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dirty="0">
                <a:solidFill>
                  <a:schemeClr val="bg1"/>
                </a:solidFill>
                <a:latin typeface="Times New Roman" panose="02020603050405020304" pitchFamily="18" charset="0"/>
                <a:cs typeface="Times New Roman" panose="02020603050405020304" pitchFamily="18" charset="0"/>
              </a:rPr>
              <a:t>LITERATURE REVIEW</a:t>
            </a:r>
          </a:p>
        </p:txBody>
      </p:sp>
      <p:sp>
        <p:nvSpPr>
          <p:cNvPr id="5" name="TextBox 4">
            <a:extLst>
              <a:ext uri="{FF2B5EF4-FFF2-40B4-BE49-F238E27FC236}">
                <a16:creationId xmlns:a16="http://schemas.microsoft.com/office/drawing/2014/main" id="{A06AA93D-0944-CAE3-388F-632F0354C848}"/>
              </a:ext>
            </a:extLst>
          </p:cNvPr>
          <p:cNvSpPr txBox="1"/>
          <p:nvPr/>
        </p:nvSpPr>
        <p:spPr>
          <a:xfrm>
            <a:off x="1700982" y="698088"/>
            <a:ext cx="9330813" cy="6894195"/>
          </a:xfrm>
          <a:prstGeom prst="rect">
            <a:avLst/>
          </a:prstGeom>
          <a:noFill/>
        </p:spPr>
        <p:txBody>
          <a:bodyPr wrap="square" rtlCol="0">
            <a:spAutoFit/>
          </a:bodyPr>
          <a:lstStyle/>
          <a:p>
            <a:pPr algn="ctr"/>
            <a:r>
              <a:rPr lang="en-IN" b="1" dirty="0">
                <a:solidFill>
                  <a:schemeClr val="bg2"/>
                </a:solidFill>
                <a:latin typeface="Times New Roman" panose="02020603050405020304" pitchFamily="18" charset="0"/>
                <a:cs typeface="Times New Roman" panose="02020603050405020304" pitchFamily="18" charset="0"/>
              </a:rPr>
              <a:t>RECENT ADVACEMENT AND CHALLENGES</a:t>
            </a:r>
          </a:p>
          <a:p>
            <a:endParaRPr lang="en-US" sz="1600" dirty="0">
              <a:solidFill>
                <a:schemeClr val="bg2"/>
              </a:solidFill>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AUTO REGRESSIVE DECODING</a:t>
            </a:r>
            <a:r>
              <a:rPr lang="en-US" sz="1600" dirty="0">
                <a:solidFill>
                  <a:schemeClr val="bg2"/>
                </a:solidFill>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While transformer-based models improved accuracy, the reliance on auto-regressive decoding introduced challenges, such as generating suboptimal or erroneous SQL queries in sequential generation.</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METASQL FRAMEWORK</a:t>
            </a:r>
            <a:r>
              <a:rPr lang="en-US" sz="16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Introduced as a unified generate-then-rank approach, METASQL integrates with existing NLIDBs to improve translation accuracy by leveraging query metadata and learning-to-rank algorithms.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DATA MODEL ROBBUSTNESS </a:t>
            </a:r>
            <a:r>
              <a:rPr lang="en-US" sz="1600" dirty="0">
                <a:latin typeface="Times New Roman" panose="02020603050405020304" pitchFamily="18" charset="0"/>
                <a:cs typeface="Times New Roman" panose="02020603050405020304" pitchFamily="18" charset="0"/>
              </a:rPr>
              <a:t>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Recent studies have highlighted the need for systematic exploration of model robustness across various data models, particularly in real-world applications.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OPEN SOURCE LLMs</a:t>
            </a:r>
            <a:r>
              <a:rPr lang="en-US" sz="1600" dirty="0">
                <a:solidFill>
                  <a:schemeClr val="bg2"/>
                </a:solidFill>
                <a:latin typeface="Times New Roman" panose="02020603050405020304" pitchFamily="18" charset="0"/>
                <a:cs typeface="Times New Roman" panose="02020603050405020304" pitchFamily="18" charset="0"/>
              </a:rPr>
              <a:t> </a:t>
            </a:r>
          </a:p>
          <a:p>
            <a:endParaRPr lang="en-US" sz="1200" dirty="0">
              <a:solidFill>
                <a:schemeClr val="bg2"/>
              </a:solidFill>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potential of open-source LLMs like Llama and Mistral is being explored for fine-tuning Text to SQL tasks, with techniques like LoRA and QLoRA offering promising avenues for enhancing performance and efficiency.</a:t>
            </a:r>
          </a:p>
          <a:p>
            <a:endParaRPr lang="en-US" sz="1200" dirty="0">
              <a:latin typeface="Times New Roman" panose="02020603050405020304" pitchFamily="18" charset="0"/>
              <a:cs typeface="Times New Roman" panose="02020603050405020304" pitchFamily="18" charset="0"/>
            </a:endParaRPr>
          </a:p>
          <a:p>
            <a:endParaRPr lang="en-US" dirty="0"/>
          </a:p>
          <a:p>
            <a:endParaRPr lang="en-IN" dirty="0"/>
          </a:p>
          <a:p>
            <a:endParaRPr lang="en-IN" dirty="0"/>
          </a:p>
          <a:p>
            <a:endParaRPr lang="en-IN" dirty="0"/>
          </a:p>
        </p:txBody>
      </p:sp>
      <p:cxnSp>
        <p:nvCxnSpPr>
          <p:cNvPr id="8" name="Straight Connector 7">
            <a:extLst>
              <a:ext uri="{FF2B5EF4-FFF2-40B4-BE49-F238E27FC236}">
                <a16:creationId xmlns:a16="http://schemas.microsoft.com/office/drawing/2014/main" id="{C949F8F9-2E42-8BEE-D3E0-A62773F57250}"/>
              </a:ext>
            </a:extLst>
          </p:cNvPr>
          <p:cNvCxnSpPr/>
          <p:nvPr/>
        </p:nvCxnSpPr>
        <p:spPr>
          <a:xfrm>
            <a:off x="1828800" y="560440"/>
            <a:ext cx="856389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3945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08906" y="137653"/>
            <a:ext cx="7737986" cy="501446"/>
          </a:xfrm>
        </p:spPr>
        <p:txBody>
          <a:bodyPr>
            <a:normAutofit/>
          </a:bodyPr>
          <a:lstStyle/>
          <a:p>
            <a:r>
              <a:rPr lang="en-IN" sz="2400" dirty="0">
                <a:solidFill>
                  <a:schemeClr val="bg1"/>
                </a:solidFill>
                <a:latin typeface="Times New Roman" panose="02020603050405020304" pitchFamily="18" charset="0"/>
                <a:cs typeface="Times New Roman" panose="02020603050405020304" pitchFamily="18" charset="0"/>
              </a:rPr>
              <a:t>Methodology</a:t>
            </a:r>
          </a:p>
        </p:txBody>
      </p:sp>
      <p:pic>
        <p:nvPicPr>
          <p:cNvPr id="2" name="Picture 1">
            <a:extLst>
              <a:ext uri="{FF2B5EF4-FFF2-40B4-BE49-F238E27FC236}">
                <a16:creationId xmlns:a16="http://schemas.microsoft.com/office/drawing/2014/main" id="{5CAF489B-6085-4B19-0915-6C202EF948C5}"/>
              </a:ext>
            </a:extLst>
          </p:cNvPr>
          <p:cNvPicPr>
            <a:picLocks noChangeAspect="1"/>
          </p:cNvPicPr>
          <p:nvPr/>
        </p:nvPicPr>
        <p:blipFill>
          <a:blip r:embed="rId2"/>
          <a:stretch>
            <a:fillRect/>
          </a:stretch>
        </p:blipFill>
        <p:spPr>
          <a:xfrm>
            <a:off x="3943720" y="1013542"/>
            <a:ext cx="5042964" cy="5283200"/>
          </a:xfrm>
          <a:prstGeom prst="rect">
            <a:avLst/>
          </a:prstGeom>
        </p:spPr>
      </p:pic>
      <p:cxnSp>
        <p:nvCxnSpPr>
          <p:cNvPr id="5" name="Straight Connector 4">
            <a:extLst>
              <a:ext uri="{FF2B5EF4-FFF2-40B4-BE49-F238E27FC236}">
                <a16:creationId xmlns:a16="http://schemas.microsoft.com/office/drawing/2014/main" id="{C189E03A-5F4C-9FCE-5E6B-5C743CF27B21}"/>
              </a:ext>
            </a:extLst>
          </p:cNvPr>
          <p:cNvCxnSpPr/>
          <p:nvPr/>
        </p:nvCxnSpPr>
        <p:spPr>
          <a:xfrm>
            <a:off x="2517058" y="530942"/>
            <a:ext cx="7895303" cy="0"/>
          </a:xfrm>
          <a:prstGeom prst="line">
            <a:avLst/>
          </a:prstGeom>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96340BD9-A4E8-6A92-45B8-B7CA56D6A170}"/>
              </a:ext>
            </a:extLst>
          </p:cNvPr>
          <p:cNvSpPr txBox="1"/>
          <p:nvPr/>
        </p:nvSpPr>
        <p:spPr>
          <a:xfrm>
            <a:off x="4178707" y="678427"/>
            <a:ext cx="4522838" cy="369332"/>
          </a:xfrm>
          <a:prstGeom prst="rect">
            <a:avLst/>
          </a:prstGeom>
          <a:noFill/>
        </p:spPr>
        <p:txBody>
          <a:bodyPr wrap="square" rtlCol="0">
            <a:spAutoFit/>
          </a:bodyPr>
          <a:lstStyle/>
          <a:p>
            <a:r>
              <a:rPr lang="en-IN" sz="18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FLOW CHART FOR DATA PROCESSING</a:t>
            </a:r>
            <a:endParaRPr lang="en-IN"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525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CF2A94F-4E8E-FC5A-62D6-D9935ACBF53B}"/>
              </a:ext>
            </a:extLst>
          </p:cNvPr>
          <p:cNvSpPr txBox="1">
            <a:spLocks/>
          </p:cNvSpPr>
          <p:nvPr/>
        </p:nvSpPr>
        <p:spPr>
          <a:xfrm>
            <a:off x="1691152" y="147485"/>
            <a:ext cx="7737986" cy="452285"/>
          </a:xfrm>
          <a:prstGeom prst="rect">
            <a:avLst/>
          </a:prstGeom>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IN" dirty="0">
                <a:solidFill>
                  <a:schemeClr val="bg1"/>
                </a:solidFill>
                <a:latin typeface="Times New Roman" panose="02020603050405020304" pitchFamily="18" charset="0"/>
                <a:cs typeface="Times New Roman" panose="02020603050405020304" pitchFamily="18" charset="0"/>
              </a:rPr>
              <a:t>METHODOLOGY</a:t>
            </a:r>
          </a:p>
        </p:txBody>
      </p:sp>
      <p:pic>
        <p:nvPicPr>
          <p:cNvPr id="7" name="Picture 6">
            <a:extLst>
              <a:ext uri="{FF2B5EF4-FFF2-40B4-BE49-F238E27FC236}">
                <a16:creationId xmlns:a16="http://schemas.microsoft.com/office/drawing/2014/main" id="{6C734FEE-3225-2DC8-5807-B2E0B44FF7DC}"/>
              </a:ext>
            </a:extLst>
          </p:cNvPr>
          <p:cNvPicPr>
            <a:picLocks noChangeAspect="1"/>
          </p:cNvPicPr>
          <p:nvPr/>
        </p:nvPicPr>
        <p:blipFill>
          <a:blip r:embed="rId2"/>
          <a:stretch>
            <a:fillRect/>
          </a:stretch>
        </p:blipFill>
        <p:spPr>
          <a:xfrm>
            <a:off x="2181121" y="1117917"/>
            <a:ext cx="7739627" cy="5115735"/>
          </a:xfrm>
          <a:prstGeom prst="rect">
            <a:avLst/>
          </a:prstGeom>
        </p:spPr>
      </p:pic>
      <p:cxnSp>
        <p:nvCxnSpPr>
          <p:cNvPr id="9" name="Straight Connector 8">
            <a:extLst>
              <a:ext uri="{FF2B5EF4-FFF2-40B4-BE49-F238E27FC236}">
                <a16:creationId xmlns:a16="http://schemas.microsoft.com/office/drawing/2014/main" id="{DE54CC9F-195D-1710-0A6D-8B213D1D8CF0}"/>
              </a:ext>
            </a:extLst>
          </p:cNvPr>
          <p:cNvCxnSpPr/>
          <p:nvPr/>
        </p:nvCxnSpPr>
        <p:spPr>
          <a:xfrm>
            <a:off x="1789472" y="550605"/>
            <a:ext cx="8593393"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80FF9AD9-E54F-E98A-8B86-F7D3E87C5135}"/>
              </a:ext>
            </a:extLst>
          </p:cNvPr>
          <p:cNvSpPr txBox="1"/>
          <p:nvPr/>
        </p:nvSpPr>
        <p:spPr>
          <a:xfrm>
            <a:off x="4001733" y="766917"/>
            <a:ext cx="4100051" cy="369332"/>
          </a:xfrm>
          <a:prstGeom prst="rect">
            <a:avLst/>
          </a:prstGeom>
          <a:noFill/>
        </p:spPr>
        <p:txBody>
          <a:bodyPr wrap="square" rtlCol="0">
            <a:spAutoFit/>
          </a:bodyPr>
          <a:lstStyle/>
          <a:p>
            <a:r>
              <a:rPr lang="en-IN" sz="18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METHODOLOGY FLOW DIAGRAM</a:t>
            </a:r>
            <a:endParaRPr lang="en-IN"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713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08904" y="165508"/>
            <a:ext cx="7649496" cy="404765"/>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Results &amp; Discussion</a:t>
            </a:r>
          </a:p>
        </p:txBody>
      </p:sp>
      <p:pic>
        <p:nvPicPr>
          <p:cNvPr id="2" name="Picture 1">
            <a:extLst>
              <a:ext uri="{FF2B5EF4-FFF2-40B4-BE49-F238E27FC236}">
                <a16:creationId xmlns:a16="http://schemas.microsoft.com/office/drawing/2014/main" id="{7C1B823F-ACD0-26C4-023E-2ABC11BCB05A}"/>
              </a:ext>
            </a:extLst>
          </p:cNvPr>
          <p:cNvPicPr>
            <a:picLocks noChangeAspect="1"/>
          </p:cNvPicPr>
          <p:nvPr/>
        </p:nvPicPr>
        <p:blipFill>
          <a:blip r:embed="rId2"/>
          <a:stretch>
            <a:fillRect/>
          </a:stretch>
        </p:blipFill>
        <p:spPr>
          <a:xfrm>
            <a:off x="2538146" y="1122967"/>
            <a:ext cx="7431764" cy="5205735"/>
          </a:xfrm>
          <a:prstGeom prst="rect">
            <a:avLst/>
          </a:prstGeom>
        </p:spPr>
      </p:pic>
      <p:cxnSp>
        <p:nvCxnSpPr>
          <p:cNvPr id="7" name="Straight Connector 6">
            <a:extLst>
              <a:ext uri="{FF2B5EF4-FFF2-40B4-BE49-F238E27FC236}">
                <a16:creationId xmlns:a16="http://schemas.microsoft.com/office/drawing/2014/main" id="{333D34B9-AB7E-EDB4-6C44-DC70C789E6CC}"/>
              </a:ext>
            </a:extLst>
          </p:cNvPr>
          <p:cNvCxnSpPr>
            <a:cxnSpLocks/>
          </p:cNvCxnSpPr>
          <p:nvPr/>
        </p:nvCxnSpPr>
        <p:spPr>
          <a:xfrm>
            <a:off x="2498818" y="559619"/>
            <a:ext cx="7903711" cy="21308"/>
          </a:xfrm>
          <a:prstGeom prst="line">
            <a:avLst/>
          </a:prstGeom>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C7377315-D2B6-5990-4D07-F9C68C2DFE8E}"/>
              </a:ext>
            </a:extLst>
          </p:cNvPr>
          <p:cNvSpPr txBox="1"/>
          <p:nvPr/>
        </p:nvSpPr>
        <p:spPr>
          <a:xfrm>
            <a:off x="4252452" y="768692"/>
            <a:ext cx="3687096" cy="369332"/>
          </a:xfrm>
          <a:prstGeom prst="rect">
            <a:avLst/>
          </a:prstGeom>
          <a:noFill/>
        </p:spPr>
        <p:txBody>
          <a:bodyPr wrap="square" rtlCol="0">
            <a:spAutoFit/>
          </a:bodyPr>
          <a:lstStyle/>
          <a:p>
            <a:r>
              <a:rPr lang="en-IN"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FINE TUNNING OBSERVATIONS</a:t>
            </a:r>
            <a:endParaRPr lang="en-IN"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45811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399066" y="157317"/>
            <a:ext cx="3932903" cy="412956"/>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Results &amp; Discussion</a:t>
            </a:r>
          </a:p>
        </p:txBody>
      </p:sp>
      <p:graphicFrame>
        <p:nvGraphicFramePr>
          <p:cNvPr id="2" name="Chart 1">
            <a:extLst>
              <a:ext uri="{FF2B5EF4-FFF2-40B4-BE49-F238E27FC236}">
                <a16:creationId xmlns:a16="http://schemas.microsoft.com/office/drawing/2014/main" id="{526339B6-E290-742E-F246-EE2A5DFE1FD2}"/>
              </a:ext>
            </a:extLst>
          </p:cNvPr>
          <p:cNvGraphicFramePr/>
          <p:nvPr>
            <p:extLst>
              <p:ext uri="{D42A27DB-BD31-4B8C-83A1-F6EECF244321}">
                <p14:modId xmlns:p14="http://schemas.microsoft.com/office/powerpoint/2010/main" val="819857233"/>
              </p:ext>
            </p:extLst>
          </p:nvPr>
        </p:nvGraphicFramePr>
        <p:xfrm>
          <a:off x="2493460" y="1268362"/>
          <a:ext cx="3651700" cy="264487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3" name="Chart 2">
            <a:extLst>
              <a:ext uri="{FF2B5EF4-FFF2-40B4-BE49-F238E27FC236}">
                <a16:creationId xmlns:a16="http://schemas.microsoft.com/office/drawing/2014/main" id="{D376015F-FE44-5BFD-6F0E-B4D754C9B3CF}"/>
              </a:ext>
            </a:extLst>
          </p:cNvPr>
          <p:cNvGraphicFramePr/>
          <p:nvPr>
            <p:extLst>
              <p:ext uri="{D42A27DB-BD31-4B8C-83A1-F6EECF244321}">
                <p14:modId xmlns:p14="http://schemas.microsoft.com/office/powerpoint/2010/main" val="49841400"/>
              </p:ext>
            </p:extLst>
          </p:nvPr>
        </p:nvGraphicFramePr>
        <p:xfrm>
          <a:off x="6764594" y="1268362"/>
          <a:ext cx="3696929" cy="260493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15896010-277B-9F96-AAD6-40C24F308D88}"/>
              </a:ext>
            </a:extLst>
          </p:cNvPr>
          <p:cNvGraphicFramePr/>
          <p:nvPr>
            <p:extLst>
              <p:ext uri="{D42A27DB-BD31-4B8C-83A1-F6EECF244321}">
                <p14:modId xmlns:p14="http://schemas.microsoft.com/office/powerpoint/2010/main" val="1736482642"/>
              </p:ext>
            </p:extLst>
          </p:nvPr>
        </p:nvGraphicFramePr>
        <p:xfrm>
          <a:off x="2493461" y="4144955"/>
          <a:ext cx="3651700" cy="216243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5448FDE7-ABB5-4F76-A803-81210DB476C9}"/>
              </a:ext>
            </a:extLst>
          </p:cNvPr>
          <p:cNvGraphicFramePr/>
          <p:nvPr>
            <p:extLst>
              <p:ext uri="{D42A27DB-BD31-4B8C-83A1-F6EECF244321}">
                <p14:modId xmlns:p14="http://schemas.microsoft.com/office/powerpoint/2010/main" val="2621729788"/>
              </p:ext>
            </p:extLst>
          </p:nvPr>
        </p:nvGraphicFramePr>
        <p:xfrm>
          <a:off x="6851976" y="4144953"/>
          <a:ext cx="3609547" cy="2162437"/>
        </p:xfrm>
        <a:graphic>
          <a:graphicData uri="http://schemas.openxmlformats.org/drawingml/2006/chart">
            <c:chart xmlns:c="http://schemas.openxmlformats.org/drawingml/2006/chart" xmlns:r="http://schemas.openxmlformats.org/officeDocument/2006/relationships" r:id="rId5"/>
          </a:graphicData>
        </a:graphic>
      </p:graphicFrame>
      <p:cxnSp>
        <p:nvCxnSpPr>
          <p:cNvPr id="8" name="Straight Connector 7">
            <a:extLst>
              <a:ext uri="{FF2B5EF4-FFF2-40B4-BE49-F238E27FC236}">
                <a16:creationId xmlns:a16="http://schemas.microsoft.com/office/drawing/2014/main" id="{4076E8FD-8E79-7D41-558A-2C5E645FC419}"/>
              </a:ext>
            </a:extLst>
          </p:cNvPr>
          <p:cNvCxnSpPr/>
          <p:nvPr/>
        </p:nvCxnSpPr>
        <p:spPr>
          <a:xfrm>
            <a:off x="2487562" y="560441"/>
            <a:ext cx="7934633" cy="0"/>
          </a:xfrm>
          <a:prstGeom prst="line">
            <a:avLst/>
          </a:prstGeom>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E3AB6D79-8983-F401-3B82-21A1C1D7C09F}"/>
              </a:ext>
            </a:extLst>
          </p:cNvPr>
          <p:cNvSpPr txBox="1"/>
          <p:nvPr/>
        </p:nvSpPr>
        <p:spPr>
          <a:xfrm>
            <a:off x="3559282" y="825909"/>
            <a:ext cx="6125494" cy="369332"/>
          </a:xfrm>
          <a:prstGeom prst="rect">
            <a:avLst/>
          </a:prstGeom>
          <a:noFill/>
        </p:spPr>
        <p:txBody>
          <a:bodyPr wrap="square" rtlCol="0">
            <a:spAutoFit/>
          </a:bodyPr>
          <a:lstStyle/>
          <a:p>
            <a:r>
              <a:rPr lang="en-IN"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TRAINING &amp; VALIDATION LOSS Vs RANK &amp; ALPHA  </a:t>
            </a:r>
            <a:endParaRPr lang="en-IN" b="1"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2040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399071" y="147486"/>
            <a:ext cx="3696929" cy="452284"/>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Results &amp; Discussion</a:t>
            </a:r>
          </a:p>
        </p:txBody>
      </p:sp>
      <p:graphicFrame>
        <p:nvGraphicFramePr>
          <p:cNvPr id="2" name="Chart 1">
            <a:extLst>
              <a:ext uri="{FF2B5EF4-FFF2-40B4-BE49-F238E27FC236}">
                <a16:creationId xmlns:a16="http://schemas.microsoft.com/office/drawing/2014/main" id="{821A3332-60BF-4B9B-050A-81188335CAE9}"/>
              </a:ext>
            </a:extLst>
          </p:cNvPr>
          <p:cNvGraphicFramePr/>
          <p:nvPr>
            <p:extLst>
              <p:ext uri="{D42A27DB-BD31-4B8C-83A1-F6EECF244321}">
                <p14:modId xmlns:p14="http://schemas.microsoft.com/office/powerpoint/2010/main" val="199465897"/>
              </p:ext>
            </p:extLst>
          </p:nvPr>
        </p:nvGraphicFramePr>
        <p:xfrm>
          <a:off x="2517059" y="1490219"/>
          <a:ext cx="7895302" cy="4232161"/>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97B6D0A5-6935-95EC-BF19-1636D78D6613}"/>
              </a:ext>
            </a:extLst>
          </p:cNvPr>
          <p:cNvSpPr txBox="1"/>
          <p:nvPr/>
        </p:nvSpPr>
        <p:spPr>
          <a:xfrm>
            <a:off x="2743206" y="1042219"/>
            <a:ext cx="7452848" cy="369332"/>
          </a:xfrm>
          <a:prstGeom prst="rect">
            <a:avLst/>
          </a:prstGeom>
          <a:noFill/>
        </p:spPr>
        <p:txBody>
          <a:bodyPr wrap="square" rtlCol="0">
            <a:spAutoFit/>
          </a:bodyPr>
          <a:lstStyle/>
          <a:p>
            <a:r>
              <a:rPr lang="en-IN" sz="18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TRAINING &amp; VAL LOSS – LLAMA &amp; MISTRAL and RANK &amp; ALPHA </a:t>
            </a:r>
            <a:endParaRPr lang="en-IN" b="1" dirty="0">
              <a:solidFill>
                <a:schemeClr val="bg2"/>
              </a:solidFill>
              <a:latin typeface="Times New Roman" panose="02020603050405020304" pitchFamily="18" charset="0"/>
              <a:cs typeface="Times New Roman" panose="02020603050405020304" pitchFamily="18" charset="0"/>
            </a:endParaRPr>
          </a:p>
        </p:txBody>
      </p:sp>
      <p:cxnSp>
        <p:nvCxnSpPr>
          <p:cNvPr id="6" name="Straight Connector 5">
            <a:extLst>
              <a:ext uri="{FF2B5EF4-FFF2-40B4-BE49-F238E27FC236}">
                <a16:creationId xmlns:a16="http://schemas.microsoft.com/office/drawing/2014/main" id="{E83C600E-B0E2-A0AC-96AA-1A4A76837EDC}"/>
              </a:ext>
            </a:extLst>
          </p:cNvPr>
          <p:cNvCxnSpPr/>
          <p:nvPr/>
        </p:nvCxnSpPr>
        <p:spPr>
          <a:xfrm>
            <a:off x="2517059" y="550606"/>
            <a:ext cx="7895302"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4466248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08904" y="137654"/>
            <a:ext cx="4404851" cy="442454"/>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Results &amp; Discussion</a:t>
            </a:r>
          </a:p>
        </p:txBody>
      </p:sp>
      <p:sp>
        <p:nvSpPr>
          <p:cNvPr id="2" name="TextBox 1">
            <a:extLst>
              <a:ext uri="{FF2B5EF4-FFF2-40B4-BE49-F238E27FC236}">
                <a16:creationId xmlns:a16="http://schemas.microsoft.com/office/drawing/2014/main" id="{0F6CF9EF-4729-6B3F-A3CB-91BADD4FE120}"/>
              </a:ext>
            </a:extLst>
          </p:cNvPr>
          <p:cNvSpPr txBox="1"/>
          <p:nvPr/>
        </p:nvSpPr>
        <p:spPr>
          <a:xfrm>
            <a:off x="2418738" y="757085"/>
            <a:ext cx="9379972" cy="6340197"/>
          </a:xfrm>
          <a:prstGeom prst="rect">
            <a:avLst/>
          </a:prstGeom>
          <a:noFill/>
        </p:spPr>
        <p:txBody>
          <a:bodyPr wrap="square" rtlCol="0">
            <a:spAutoFit/>
          </a:bodyPr>
          <a:lstStyle/>
          <a:p>
            <a:pPr algn="ctr"/>
            <a:r>
              <a:rPr lang="en-IN" sz="18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INTERPRETATION OF OBSERVATION OF FINE TUNNING</a:t>
            </a:r>
          </a:p>
          <a:p>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600" b="1" dirty="0">
                <a:solidFill>
                  <a:schemeClr val="bg2"/>
                </a:solidFill>
                <a:latin typeface="Times New Roman" panose="02020603050405020304" pitchFamily="18" charset="0"/>
                <a:cs typeface="Times New Roman" panose="02020603050405020304" pitchFamily="18" charset="0"/>
              </a:rPr>
              <a:t>MODEL COMPARISION BY QUANTIZATION BITS</a:t>
            </a:r>
          </a:p>
          <a:p>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4-bit Quantization: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Predominately, models fine-tuned with 4-bit quantization tend to have a higher training loss compared to 8-bit quantization. However, they also demonstrate a shorter total training time</a:t>
            </a:r>
          </a:p>
          <a:p>
            <a:pPr marL="285750" indent="-285750">
              <a:buFont typeface="Arial" panose="020B0604020202020204" pitchFamily="34" charset="0"/>
              <a:buChar char="•"/>
            </a:pPr>
            <a:endParaRPr lang="en-IN" sz="1200" kern="100"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8-bit Quantization</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Models fine-tuned with 8-bit quantization generally show lower training and validation losses, indicating better performance</a:t>
            </a:r>
            <a:r>
              <a:rPr lang="en-IN" sz="1600" kern="100" dirty="0">
                <a:effectLst/>
                <a:latin typeface="Times New Roman" panose="02020603050405020304" pitchFamily="18" charset="0"/>
                <a:ea typeface="Calibri" panose="020F0502020204030204" pitchFamily="34" charset="0"/>
                <a:cs typeface="Times New Roman" panose="02020603050405020304" pitchFamily="18" charset="0"/>
              </a:rPr>
              <a:t> </a:t>
            </a:r>
          </a:p>
          <a:p>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p>
            <a:r>
              <a:rPr lang="en-IN" sz="1600" b="1" dirty="0">
                <a:solidFill>
                  <a:schemeClr val="bg2"/>
                </a:solidFill>
                <a:effectLst/>
                <a:latin typeface="Times New Roman" panose="02020603050405020304" pitchFamily="18" charset="0"/>
                <a:ea typeface="Times New Roman" panose="02020603050405020304" pitchFamily="18" charset="0"/>
                <a:cs typeface="Times New Roman" panose="02020603050405020304" pitchFamily="18" charset="0"/>
              </a:rPr>
              <a:t>IMPACT OF RANK AND ALPHA</a:t>
            </a:r>
          </a:p>
          <a:p>
            <a:endParaRPr lang="en-IN" sz="1200" b="1" dirty="0">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As the Rank and Alpha parameters increase, the training loss generally decreases, indicating improved model performance</a:t>
            </a:r>
          </a:p>
          <a:p>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IN" sz="1600" b="1" dirty="0">
                <a:solidFill>
                  <a:schemeClr val="bg2"/>
                </a:solidFill>
                <a:effectLst/>
                <a:latin typeface="Times New Roman" panose="02020603050405020304" pitchFamily="18" charset="0"/>
                <a:ea typeface="Calibri" panose="020F0502020204030204" pitchFamily="34" charset="0"/>
                <a:cs typeface="Times New Roman" panose="02020603050405020304" pitchFamily="18" charset="0"/>
              </a:rPr>
              <a:t>TRAINING TIME AND BATCH SIZE CONSIDERATION</a:t>
            </a:r>
          </a:p>
          <a:p>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A larger batch size generally results in faster training but may not always lead to better validation loss</a:t>
            </a:r>
          </a:p>
          <a:p>
            <a:endParaRPr lang="en-IN" sz="1200" dirty="0">
              <a:latin typeface="Times New Roman" panose="02020603050405020304" pitchFamily="18" charset="0"/>
              <a:ea typeface="Calibri" panose="020F0502020204030204" pitchFamily="34" charset="0"/>
              <a:cs typeface="Times New Roman" panose="02020603050405020304" pitchFamily="18" charset="0"/>
            </a:endParaRPr>
          </a:p>
          <a:p>
            <a:r>
              <a:rPr lang="en-IN" sz="1600" b="1" dirty="0">
                <a:solidFill>
                  <a:schemeClr val="bg2"/>
                </a:solidFill>
                <a:latin typeface="Times New Roman" panose="02020603050405020304" pitchFamily="18" charset="0"/>
                <a:cs typeface="Times New Roman" panose="02020603050405020304" pitchFamily="18" charset="0"/>
              </a:rPr>
              <a:t>PERFORMANCE ACROSS MODELS</a:t>
            </a:r>
          </a:p>
          <a:p>
            <a:endParaRPr lang="en-IN"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Llama models (Llama-2 and Llama-3) tend to show higher training losses compared to the Mistral model (Mistral-7B) when configured similarly</a:t>
            </a:r>
            <a:endParaRPr lang="en-IN" sz="1600" b="1" dirty="0">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285750" indent="-285750">
              <a:buFont typeface="Arial" panose="020B0604020202020204" pitchFamily="34" charset="0"/>
              <a:buChar char="•"/>
            </a:pPr>
            <a:r>
              <a:rPr lang="en-IN" sz="1600" dirty="0">
                <a:effectLst/>
                <a:latin typeface="Times New Roman" panose="02020603050405020304" pitchFamily="18" charset="0"/>
                <a:ea typeface="Calibri" panose="020F0502020204030204" pitchFamily="34" charset="0"/>
                <a:cs typeface="Times New Roman" panose="02020603050405020304" pitchFamily="18" charset="0"/>
              </a:rPr>
              <a:t>The Mistral model consistently performed better in terms of validation loss</a:t>
            </a:r>
            <a:endPar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IN" sz="1800" b="1" dirty="0">
              <a:effectLst/>
              <a:latin typeface="Times New Roman" panose="02020603050405020304" pitchFamily="18" charset="0"/>
              <a:ea typeface="Times New Roman" panose="02020603050405020304" pitchFamily="18" charset="0"/>
            </a:endParaRPr>
          </a:p>
          <a:p>
            <a:endParaRPr lang="en-IN" dirty="0"/>
          </a:p>
        </p:txBody>
      </p:sp>
      <p:cxnSp>
        <p:nvCxnSpPr>
          <p:cNvPr id="5" name="Straight Connector 4">
            <a:extLst>
              <a:ext uri="{FF2B5EF4-FFF2-40B4-BE49-F238E27FC236}">
                <a16:creationId xmlns:a16="http://schemas.microsoft.com/office/drawing/2014/main" id="{2DD23A94-8D79-A2C9-98BA-03E2F1B65B67}"/>
              </a:ext>
            </a:extLst>
          </p:cNvPr>
          <p:cNvCxnSpPr>
            <a:cxnSpLocks/>
          </p:cNvCxnSpPr>
          <p:nvPr/>
        </p:nvCxnSpPr>
        <p:spPr>
          <a:xfrm>
            <a:off x="2497394" y="550606"/>
            <a:ext cx="8622891"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69274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18734" y="137654"/>
            <a:ext cx="7187382" cy="472862"/>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Conclusion &amp; Future Recommendations</a:t>
            </a:r>
          </a:p>
        </p:txBody>
      </p:sp>
      <p:sp>
        <p:nvSpPr>
          <p:cNvPr id="3" name="TextBox 2">
            <a:extLst>
              <a:ext uri="{FF2B5EF4-FFF2-40B4-BE49-F238E27FC236}">
                <a16:creationId xmlns:a16="http://schemas.microsoft.com/office/drawing/2014/main" id="{E12811BD-E2C9-71D4-7D29-F302B29D4D55}"/>
              </a:ext>
            </a:extLst>
          </p:cNvPr>
          <p:cNvSpPr txBox="1"/>
          <p:nvPr/>
        </p:nvSpPr>
        <p:spPr>
          <a:xfrm>
            <a:off x="2418734" y="816079"/>
            <a:ext cx="8770376" cy="5293757"/>
          </a:xfrm>
          <a:prstGeom prst="rect">
            <a:avLst/>
          </a:prstGeom>
          <a:noFill/>
        </p:spPr>
        <p:txBody>
          <a:bodyPr wrap="square" rtlCol="0">
            <a:spAutoFit/>
          </a:bodyPr>
          <a:lstStyle/>
          <a:p>
            <a:r>
              <a:rPr lang="en-US" sz="1600" b="1" dirty="0">
                <a:solidFill>
                  <a:schemeClr val="bg2"/>
                </a:solidFill>
                <a:latin typeface="Times New Roman" panose="02020603050405020304" pitchFamily="18" charset="0"/>
                <a:cs typeface="Times New Roman" panose="02020603050405020304" pitchFamily="18" charset="0"/>
              </a:rPr>
              <a:t>EXPANDED HYPERPARAMETER TUNING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Future research should explore additional hyperparameters such as learning rates and dropout rates to enhance model performance beyond the current focus on rank and alpha.</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CROSS DOMAIN ADAPTATION</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Investigating the application of fine-tuned models in different domains can test their generalizability and provide insights for industry-specific adaptations, such as in healthcare, finance, or e-commerce.</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INTEGRATION WITH REAL WORLD DATABASE SYSTEMS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Implementing these models in practical database environments could automate query generation, uncover unforeseen challenges, and assess the models’ effectiveness in real-world scenarios, including handling grammatical errors and minimizing hallucinations.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SCALING WITH LARGER MODELS </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Further studies should consider using larger models like Llama-2-13B or Mistral-11B with advanced quantization techniques to improve the accuracy of NL to SQL translation, particularly in complex queries</a:t>
            </a:r>
          </a:p>
          <a:p>
            <a:endParaRPr lang="en-IN" dirty="0"/>
          </a:p>
        </p:txBody>
      </p:sp>
      <p:cxnSp>
        <p:nvCxnSpPr>
          <p:cNvPr id="8" name="Straight Connector 7">
            <a:extLst>
              <a:ext uri="{FF2B5EF4-FFF2-40B4-BE49-F238E27FC236}">
                <a16:creationId xmlns:a16="http://schemas.microsoft.com/office/drawing/2014/main" id="{43B4F364-115D-7E97-2BF9-8DFBA83D6660}"/>
              </a:ext>
            </a:extLst>
          </p:cNvPr>
          <p:cNvCxnSpPr/>
          <p:nvPr/>
        </p:nvCxnSpPr>
        <p:spPr>
          <a:xfrm>
            <a:off x="2536723" y="550606"/>
            <a:ext cx="79248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3765009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A0D8671-0B33-D744-81CE-751F476CA889}"/>
              </a:ext>
            </a:extLst>
          </p:cNvPr>
          <p:cNvSpPr>
            <a:spLocks noGrp="1"/>
          </p:cNvSpPr>
          <p:nvPr>
            <p:ph type="subTitle" idx="1"/>
          </p:nvPr>
        </p:nvSpPr>
        <p:spPr>
          <a:xfrm>
            <a:off x="2418736" y="147486"/>
            <a:ext cx="7944466" cy="393289"/>
          </a:xfrm>
        </p:spPr>
        <p:txBody>
          <a:bodyPr>
            <a:noAutofit/>
          </a:bodyPr>
          <a:lstStyle/>
          <a:p>
            <a:r>
              <a:rPr lang="en-IN" sz="2400" dirty="0">
                <a:solidFill>
                  <a:schemeClr val="bg1"/>
                </a:solidFill>
                <a:latin typeface="Times New Roman" panose="02020603050405020304" pitchFamily="18" charset="0"/>
                <a:cs typeface="Times New Roman" panose="02020603050405020304" pitchFamily="18" charset="0"/>
              </a:rPr>
              <a:t>Conclusion &amp; Future Recommendations</a:t>
            </a:r>
          </a:p>
        </p:txBody>
      </p:sp>
      <p:sp>
        <p:nvSpPr>
          <p:cNvPr id="2" name="TextBox 1">
            <a:extLst>
              <a:ext uri="{FF2B5EF4-FFF2-40B4-BE49-F238E27FC236}">
                <a16:creationId xmlns:a16="http://schemas.microsoft.com/office/drawing/2014/main" id="{7E9204A7-9305-B9BB-E8A7-F42A93B58827}"/>
              </a:ext>
            </a:extLst>
          </p:cNvPr>
          <p:cNvSpPr txBox="1"/>
          <p:nvPr/>
        </p:nvSpPr>
        <p:spPr>
          <a:xfrm>
            <a:off x="2428570" y="727587"/>
            <a:ext cx="8613058" cy="5539978"/>
          </a:xfrm>
          <a:prstGeom prst="rect">
            <a:avLst/>
          </a:prstGeom>
          <a:noFill/>
        </p:spPr>
        <p:txBody>
          <a:bodyPr wrap="square" rtlCol="0">
            <a:spAutoFit/>
          </a:bodyPr>
          <a:lstStyle/>
          <a:p>
            <a:r>
              <a:rPr lang="en-US" sz="1600" b="1" dirty="0">
                <a:solidFill>
                  <a:schemeClr val="bg2"/>
                </a:solidFill>
                <a:latin typeface="Times New Roman" panose="02020603050405020304" pitchFamily="18" charset="0"/>
                <a:cs typeface="Times New Roman" panose="02020603050405020304" pitchFamily="18" charset="0"/>
              </a:rPr>
              <a:t>ENHANCED Model INTERPRETABILITY</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Future work should focus on making models more interpretable and explainable, especially for critical applications. Techniques such as attention visualization and integrating explainability frameworks could help users understand the model’s decision-making process.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DOMAIN SPECIFIC FINE TUNING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Exploring the fine-tuning of models on domain-specific SQL datasets, such as those from healthcare, finance, or telecommunications, could improve performance in specialized industries by adapting to domain-specific jargon and query structures.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EXPLORATION OF PAID LLM MODELS</a:t>
            </a:r>
          </a:p>
          <a:p>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Future work could compare the performance of open-source models like Llama and Mistral with paid models such as GPT or Gemini to determine the best approach for various use cases.</a:t>
            </a:r>
          </a:p>
          <a:p>
            <a:endParaRPr lang="en-US" sz="1200" dirty="0">
              <a:latin typeface="Times New Roman" panose="02020603050405020304" pitchFamily="18" charset="0"/>
              <a:cs typeface="Times New Roman" panose="02020603050405020304" pitchFamily="18" charset="0"/>
            </a:endParaRPr>
          </a:p>
          <a:p>
            <a:r>
              <a:rPr lang="en-US" sz="1600" b="1" dirty="0">
                <a:solidFill>
                  <a:schemeClr val="bg2"/>
                </a:solidFill>
                <a:latin typeface="Times New Roman" panose="02020603050405020304" pitchFamily="18" charset="0"/>
                <a:cs typeface="Times New Roman" panose="02020603050405020304" pitchFamily="18" charset="0"/>
              </a:rPr>
              <a:t>OPTIMIZATION TECHNIQUES </a:t>
            </a:r>
          </a:p>
          <a:p>
            <a:endParaRPr lang="en-US" sz="12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Implementing advanced optimization techniques, such as mixed precision training, distillation, and pruning, could reduce computational requirements while maintaining model accuracy, making them more efficient and practical for deployment.</a:t>
            </a:r>
          </a:p>
          <a:p>
            <a:endParaRPr lang="en-IN" dirty="0"/>
          </a:p>
        </p:txBody>
      </p:sp>
      <p:cxnSp>
        <p:nvCxnSpPr>
          <p:cNvPr id="5" name="Straight Connector 4">
            <a:extLst>
              <a:ext uri="{FF2B5EF4-FFF2-40B4-BE49-F238E27FC236}">
                <a16:creationId xmlns:a16="http://schemas.microsoft.com/office/drawing/2014/main" id="{B5D5B90C-34B2-CE06-842E-1813D50A7E55}"/>
              </a:ext>
            </a:extLst>
          </p:cNvPr>
          <p:cNvCxnSpPr/>
          <p:nvPr/>
        </p:nvCxnSpPr>
        <p:spPr>
          <a:xfrm>
            <a:off x="2546555" y="550607"/>
            <a:ext cx="7816647"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5193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 You Vectors &amp; Illustrations for Free Download">
            <a:extLst>
              <a:ext uri="{FF2B5EF4-FFF2-40B4-BE49-F238E27FC236}">
                <a16:creationId xmlns:a16="http://schemas.microsoft.com/office/drawing/2014/main" id="{79FACD4B-38AD-6DFB-DD6F-EB49187B0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03166" y="1289716"/>
            <a:ext cx="5793350" cy="42556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70260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720</TotalTime>
  <Words>1178</Words>
  <Application>Microsoft Office PowerPoint</Application>
  <PresentationFormat>Widescreen</PresentationFormat>
  <Paragraphs>162</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Times New Roman</vt:lpstr>
      <vt:lpstr>Tw Cen MT</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Suresh Singh</dc:creator>
  <cp:lastModifiedBy>Suresh Singh</cp:lastModifiedBy>
  <cp:revision>4</cp:revision>
  <dcterms:created xsi:type="dcterms:W3CDTF">2024-09-02T08:08:57Z</dcterms:created>
  <dcterms:modified xsi:type="dcterms:W3CDTF">2024-09-02T20:09:48Z</dcterms:modified>
</cp:coreProperties>
</file>